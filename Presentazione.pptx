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  <p:sldMasterId id="2147484695" r:id="rId2"/>
  </p:sldMasterIdLst>
  <p:notesMasterIdLst>
    <p:notesMasterId r:id="rId19"/>
  </p:notesMasterIdLst>
  <p:handoutMasterIdLst>
    <p:handoutMasterId r:id="rId20"/>
  </p:handoutMasterIdLst>
  <p:sldIdLst>
    <p:sldId id="256" r:id="rId3"/>
    <p:sldId id="274" r:id="rId4"/>
    <p:sldId id="275" r:id="rId5"/>
    <p:sldId id="276" r:id="rId6"/>
    <p:sldId id="277" r:id="rId7"/>
    <p:sldId id="281" r:id="rId8"/>
    <p:sldId id="278" r:id="rId9"/>
    <p:sldId id="288" r:id="rId10"/>
    <p:sldId id="279" r:id="rId11"/>
    <p:sldId id="282" r:id="rId12"/>
    <p:sldId id="283" r:id="rId13"/>
    <p:sldId id="284" r:id="rId14"/>
    <p:sldId id="285" r:id="rId15"/>
    <p:sldId id="286" r:id="rId16"/>
    <p:sldId id="280" r:id="rId17"/>
    <p:sldId id="28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ciana" initials="L" lastIdx="1" clrIdx="0">
    <p:extLst>
      <p:ext uri="{19B8F6BF-5375-455C-9EA6-DF929625EA0E}">
        <p15:presenceInfo xmlns:p15="http://schemas.microsoft.com/office/powerpoint/2012/main" userId="Lucia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8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4660"/>
  </p:normalViewPr>
  <p:slideViewPr>
    <p:cSldViewPr snapToGrid="0">
      <p:cViewPr varScale="1">
        <p:scale>
          <a:sx n="49" d="100"/>
          <a:sy n="49" d="100"/>
        </p:scale>
        <p:origin x="77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CB26BB2B-732B-4B38-ABF5-5FA87F0817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AA58E81-D8D5-433F-84AE-35650E99DC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E6DD04-2327-4D7F-B702-E1321FD6C31F}" type="datetimeFigureOut">
              <a:rPr lang="it-IT" smtClean="0"/>
              <a:t>12/07/2021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AF18B46-3EF5-4163-8734-56EB640251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1E0621B-9979-4A1B-9390-4259DBFFD0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60C5B-7414-4B11-82B7-2D0044369B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1051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98727-23F3-42B4-8166-9841807962ED}" type="datetimeFigureOut">
              <a:rPr lang="it-IT" smtClean="0"/>
              <a:t>12/07/2021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AB3440-A2C0-478E-97D2-893E35B7551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7240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 algn="ctr">
              <a:buNone/>
              <a:defRPr sz="2800"/>
            </a:lvl2pPr>
            <a:lvl3pPr marL="914377" indent="0" algn="ctr">
              <a:buNone/>
              <a:defRPr sz="24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DE870-B962-4555-A125-5CD913922A1A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524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508CE-6C44-45B9-AB78-025024541B3B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494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5BD4-B0C4-4D1E-B808-F86B8D90F60B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036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55FEA-4014-46BE-976A-64BF16F6B141}" type="datetime1">
              <a:rPr lang="it-IT" smtClean="0"/>
              <a:t>12/07/2021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4418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6A2E-D39A-4C4C-8F17-872367378D9B}" type="datetime1">
              <a:rPr lang="it-IT" smtClean="0"/>
              <a:t>12/07/2021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69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9118-B96A-45F6-9FCD-D299C932F0AF}" type="datetime1">
              <a:rPr lang="it-IT" smtClean="0"/>
              <a:t>12/07/2021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47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AB4F-755F-4415-A737-76561E45EF06}" type="datetime1">
              <a:rPr lang="it-IT" smtClean="0"/>
              <a:t>12/07/2021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508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A156E-49C2-4AF0-9C4E-F4A4BAD2BEA9}" type="datetime1">
              <a:rPr lang="it-IT" smtClean="0"/>
              <a:t>12/07/2021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193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26ACC-3DDD-4B90-84CC-B8D40D390C88}" type="datetime1">
              <a:rPr lang="it-IT" smtClean="0"/>
              <a:t>12/07/2021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494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2AA2-677C-482C-BD0C-5EA733579343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177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36B6-A40D-44D1-87E3-2F81E06ADAFA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084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939F-3023-4884-A3AF-9573AD25B26F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530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314C-0EC5-4EFA-B16D-865A65F706EE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892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CF60-C7A8-4C5E-A49A-B6E9CB82EB97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92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2AA27-7553-4674-B45E-B2B3E4B83CFC}" type="datetime1">
              <a:rPr lang="it-IT" smtClean="0"/>
              <a:t>12/07/2021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493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FE38-E76E-400D-B5B6-C3184309EDBB}" type="datetime1">
              <a:rPr lang="it-IT" smtClean="0"/>
              <a:t>12/07/2021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1971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2C6F-9BB2-43E6-884D-1C26BD6B1725}" type="datetime1">
              <a:rPr lang="it-IT" smtClean="0"/>
              <a:t>12/07/2021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960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0E0AA-569C-41DC-AF7C-C31731601703}" type="datetime1">
              <a:rPr lang="it-IT" smtClean="0"/>
              <a:t>12/07/2021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094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6964-2D66-44B3-9AF2-0B34C41A506E}" type="datetime1">
              <a:rPr lang="it-IT" smtClean="0"/>
              <a:t>12/07/2021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859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53F0F-F80B-421D-9799-ADBD7417FD10}" type="datetime1">
              <a:rPr lang="it-IT" smtClean="0"/>
              <a:t>12/07/2021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981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A97F8-E665-4469-8914-A80259C33B73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954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7C4E0-97C4-42FF-ACB9-B79C171610A3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8676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CD080-A86D-42B7-BDC0-5BD790B76A4A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861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2864-9285-4E03-88EC-12591A3C822B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011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0230-A797-4FF9-93F8-171BAC37A8B2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605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7DEE0-51DB-459A-9953-ACE52745862F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134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BDC05-CB6F-4522-B130-7377DF133712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55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A209C09-017B-420D-A4C3-A8F1D728511E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3401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  <p:hf sldNum="0"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8CE4E-2D4D-4882-B62B-34274ED51570}" type="datetime1">
              <a:rPr lang="it-IT" smtClean="0"/>
              <a:t>12/07/2021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rfrf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AFA1AC9-33E8-4E34-8403-E1D4DA7A95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902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6" r:id="rId1"/>
    <p:sldLayoutId id="2147484697" r:id="rId2"/>
    <p:sldLayoutId id="2147484698" r:id="rId3"/>
    <p:sldLayoutId id="2147484699" r:id="rId4"/>
    <p:sldLayoutId id="2147484700" r:id="rId5"/>
    <p:sldLayoutId id="2147484701" r:id="rId6"/>
    <p:sldLayoutId id="2147484702" r:id="rId7"/>
    <p:sldLayoutId id="2147484703" r:id="rId8"/>
    <p:sldLayoutId id="2147484704" r:id="rId9"/>
    <p:sldLayoutId id="2147484705" r:id="rId10"/>
    <p:sldLayoutId id="2147484706" r:id="rId11"/>
    <p:sldLayoutId id="2147484707" r:id="rId12"/>
    <p:sldLayoutId id="2147484708" r:id="rId13"/>
    <p:sldLayoutId id="2147484709" r:id="rId14"/>
    <p:sldLayoutId id="2147484710" r:id="rId15"/>
    <p:sldLayoutId id="2147484711" r:id="rId16"/>
  </p:sldLayoutIdLst>
  <mc:AlternateContent xmlns:mc="http://schemas.openxmlformats.org/markup-compatibility/2006" xmlns:p14="http://schemas.microsoft.com/office/powerpoint/2010/main">
    <mc:Choice Requires="p14">
      <p:transition spd="slow" p14:dur="10000"/>
    </mc:Choice>
    <mc:Fallback xmlns="">
      <p:transition spd="slow"/>
    </mc:Fallback>
  </mc:AlternateConten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6319" y="1303393"/>
            <a:ext cx="1578854" cy="1689959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8343994" y="5228732"/>
            <a:ext cx="27785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Mattia </a:t>
            </a:r>
            <a:r>
              <a:rPr lang="it-IT" sz="2200" b="1" dirty="0"/>
              <a:t>TOFFOLO</a:t>
            </a:r>
            <a:r>
              <a:rPr lang="it-IT" sz="2200" dirty="0"/>
              <a:t> </a:t>
            </a:r>
            <a:r>
              <a:rPr lang="it-IT" sz="2200" dirty="0" err="1"/>
              <a:t>Matr</a:t>
            </a:r>
            <a:r>
              <a:rPr lang="it-IT" sz="2200" dirty="0"/>
              <a:t>. 820438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1054832" y="3132573"/>
            <a:ext cx="1004182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/>
              <a:t>M</a:t>
            </a:r>
            <a:r>
              <a:rPr lang="it-IT" sz="3500" b="1" dirty="0"/>
              <a:t>ACHINE </a:t>
            </a:r>
            <a:r>
              <a:rPr lang="it-IT" sz="4000" b="1" dirty="0"/>
              <a:t>L</a:t>
            </a:r>
            <a:r>
              <a:rPr lang="it-IT" sz="3500" b="1" dirty="0"/>
              <a:t>EARNING E MALATTIE CARDIOVASCOLARI: QUANDO STATISTICA E MEDICINA LAVORANO INSIEME.</a:t>
            </a:r>
            <a:endParaRPr lang="it-IT" sz="2400" b="1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4142582" y="6109195"/>
            <a:ext cx="3866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Anno accademico 2020-2021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2224855" y="203907"/>
            <a:ext cx="77017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Università degli studi di Milano-Bicocca</a:t>
            </a:r>
          </a:p>
          <a:p>
            <a:pPr algn="ctr"/>
            <a:r>
              <a:rPr lang="it-IT" sz="2000" dirty="0"/>
              <a:t>Scuola di Economia e Statistica</a:t>
            </a:r>
          </a:p>
          <a:p>
            <a:pPr algn="ctr"/>
            <a:r>
              <a:rPr lang="it-IT" sz="2000" dirty="0"/>
              <a:t>Corso di Laurea in Scienze Statistiche ed Economiche</a:t>
            </a:r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5C5D1A8-5890-4648-90EC-514F5902E644}"/>
              </a:ext>
            </a:extLst>
          </p:cNvPr>
          <p:cNvSpPr txBox="1"/>
          <p:nvPr/>
        </p:nvSpPr>
        <p:spPr>
          <a:xfrm>
            <a:off x="537467" y="5228731"/>
            <a:ext cx="33105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Progetto per l’Esame di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919365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4379B590-A719-4D1A-A758-87A62EA9A5DA}"/>
              </a:ext>
            </a:extLst>
          </p:cNvPr>
          <p:cNvSpPr txBox="1"/>
          <p:nvPr/>
        </p:nvSpPr>
        <p:spPr>
          <a:xfrm>
            <a:off x="3575531" y="1789"/>
            <a:ext cx="48636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latin typeface="+mj-lt"/>
              </a:rPr>
              <a:t>INTRODUZIONE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7342D9D-41F3-4BDF-AB65-5BCCEBAB98A3}"/>
              </a:ext>
            </a:extLst>
          </p:cNvPr>
          <p:cNvSpPr txBox="1"/>
          <p:nvPr/>
        </p:nvSpPr>
        <p:spPr>
          <a:xfrm>
            <a:off x="3816787" y="1145875"/>
            <a:ext cx="8394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Scompensi del cuore e delle vene connesse</a:t>
            </a: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6F453CE3-F47C-4FDC-A56E-6CB9429C95C7}"/>
              </a:ext>
            </a:extLst>
          </p:cNvPr>
          <p:cNvSpPr/>
          <p:nvPr/>
        </p:nvSpPr>
        <p:spPr>
          <a:xfrm>
            <a:off x="2726745" y="1180827"/>
            <a:ext cx="1090042" cy="375783"/>
          </a:xfrm>
          <a:prstGeom prst="right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reccia angolare in su 8">
            <a:extLst>
              <a:ext uri="{FF2B5EF4-FFF2-40B4-BE49-F238E27FC236}">
                <a16:creationId xmlns:a16="http://schemas.microsoft.com/office/drawing/2014/main" id="{D0CE91FA-DA6B-46AF-9ABD-3BDC4CFBDFA1}"/>
              </a:ext>
            </a:extLst>
          </p:cNvPr>
          <p:cNvSpPr/>
          <p:nvPr/>
        </p:nvSpPr>
        <p:spPr>
          <a:xfrm rot="5400000">
            <a:off x="1578267" y="1294654"/>
            <a:ext cx="759668" cy="1525192"/>
          </a:xfrm>
          <a:prstGeom prst="bentUp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264440C-1CE0-4929-8810-BF026FD80D57}"/>
              </a:ext>
            </a:extLst>
          </p:cNvPr>
          <p:cNvSpPr txBox="1"/>
          <p:nvPr/>
        </p:nvSpPr>
        <p:spPr>
          <a:xfrm>
            <a:off x="2720697" y="2014498"/>
            <a:ext cx="7734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Possono causare infarti, ictus e, nei casi peggiori, la morte</a:t>
            </a: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0802790-8D9F-4328-A612-F1074E0F54AE}"/>
              </a:ext>
            </a:extLst>
          </p:cNvPr>
          <p:cNvSpPr/>
          <p:nvPr/>
        </p:nvSpPr>
        <p:spPr>
          <a:xfrm>
            <a:off x="563424" y="2722679"/>
            <a:ext cx="2554476" cy="916861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200" dirty="0">
                <a:solidFill>
                  <a:schemeClr val="tx1"/>
                </a:solidFill>
              </a:rPr>
              <a:t>Obiettivo del Progetto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97CDCFDD-390C-4488-8F2F-A1691968C2FC}"/>
              </a:ext>
            </a:extLst>
          </p:cNvPr>
          <p:cNvCxnSpPr>
            <a:cxnSpLocks/>
          </p:cNvCxnSpPr>
          <p:nvPr/>
        </p:nvCxnSpPr>
        <p:spPr>
          <a:xfrm>
            <a:off x="3089850" y="3160980"/>
            <a:ext cx="821533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D5459F2-B388-424A-BD8B-17565B1A21CD}"/>
              </a:ext>
            </a:extLst>
          </p:cNvPr>
          <p:cNvSpPr txBox="1"/>
          <p:nvPr/>
        </p:nvSpPr>
        <p:spPr>
          <a:xfrm>
            <a:off x="3911383" y="2807037"/>
            <a:ext cx="7291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Addestrare un algoritmo in grado di prevedere la sopravvivenza dei pazienti (</a:t>
            </a:r>
            <a:r>
              <a:rPr lang="it-IT" sz="2000" dirty="0" err="1"/>
              <a:t>supervised</a:t>
            </a:r>
            <a:r>
              <a:rPr lang="it-IT" sz="2000" dirty="0"/>
              <a:t> task)</a:t>
            </a:r>
          </a:p>
        </p:txBody>
      </p:sp>
      <p:sp>
        <p:nvSpPr>
          <p:cNvPr id="18" name="Elaborazione 17">
            <a:extLst>
              <a:ext uri="{FF2B5EF4-FFF2-40B4-BE49-F238E27FC236}">
                <a16:creationId xmlns:a16="http://schemas.microsoft.com/office/drawing/2014/main" id="{9712FEAD-FAD3-4D66-9197-1FCECEFB3505}"/>
              </a:ext>
            </a:extLst>
          </p:cNvPr>
          <p:cNvSpPr/>
          <p:nvPr/>
        </p:nvSpPr>
        <p:spPr>
          <a:xfrm>
            <a:off x="440778" y="4430409"/>
            <a:ext cx="3223385" cy="714111"/>
          </a:xfrm>
          <a:prstGeom prst="flowChartProcess">
            <a:avLst/>
          </a:prstGeom>
          <a:solidFill>
            <a:schemeClr val="bg1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Analisi statistica di carattere esplorativo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67E2E663-2EE9-40B3-9EB7-993570309469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3664163" y="4787465"/>
            <a:ext cx="731506" cy="9014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aborazione 19">
            <a:extLst>
              <a:ext uri="{FF2B5EF4-FFF2-40B4-BE49-F238E27FC236}">
                <a16:creationId xmlns:a16="http://schemas.microsoft.com/office/drawing/2014/main" id="{C0E65F16-3BBB-4032-9716-1DB05D197B44}"/>
              </a:ext>
            </a:extLst>
          </p:cNvPr>
          <p:cNvSpPr/>
          <p:nvPr/>
        </p:nvSpPr>
        <p:spPr>
          <a:xfrm>
            <a:off x="4395669" y="4439423"/>
            <a:ext cx="3223385" cy="714111"/>
          </a:xfrm>
          <a:prstGeom prst="flowChartProcess">
            <a:avLst/>
          </a:prstGeom>
          <a:solidFill>
            <a:schemeClr val="bg1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Preprocessing</a:t>
            </a:r>
            <a:r>
              <a:rPr lang="it-IT" dirty="0">
                <a:solidFill>
                  <a:schemeClr val="tx1"/>
                </a:solidFill>
              </a:rPr>
              <a:t> del dataset</a:t>
            </a:r>
          </a:p>
        </p:txBody>
      </p:sp>
      <p:sp>
        <p:nvSpPr>
          <p:cNvPr id="21" name="Elaborazione 20">
            <a:extLst>
              <a:ext uri="{FF2B5EF4-FFF2-40B4-BE49-F238E27FC236}">
                <a16:creationId xmlns:a16="http://schemas.microsoft.com/office/drawing/2014/main" id="{F14D9AA4-0069-4BF2-B37F-BB916568ABF1}"/>
              </a:ext>
            </a:extLst>
          </p:cNvPr>
          <p:cNvSpPr/>
          <p:nvPr/>
        </p:nvSpPr>
        <p:spPr>
          <a:xfrm>
            <a:off x="8388053" y="4430408"/>
            <a:ext cx="3223383" cy="714111"/>
          </a:xfrm>
          <a:prstGeom prst="flowChartProcess">
            <a:avLst/>
          </a:prstGeom>
          <a:solidFill>
            <a:schemeClr val="bg1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Addestramento degli algoritmi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4D3E8626-D2B2-4315-BF3C-062FD0B4D6F3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7619054" y="4787464"/>
            <a:ext cx="768999" cy="9015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aborazione 22">
            <a:extLst>
              <a:ext uri="{FF2B5EF4-FFF2-40B4-BE49-F238E27FC236}">
                <a16:creationId xmlns:a16="http://schemas.microsoft.com/office/drawing/2014/main" id="{28FAB4CE-B767-4D84-A876-E61375249A2F}"/>
              </a:ext>
            </a:extLst>
          </p:cNvPr>
          <p:cNvSpPr/>
          <p:nvPr/>
        </p:nvSpPr>
        <p:spPr>
          <a:xfrm>
            <a:off x="8388044" y="5510590"/>
            <a:ext cx="3223392" cy="714110"/>
          </a:xfrm>
          <a:prstGeom prst="flowChartProcess">
            <a:avLst/>
          </a:prstGeom>
          <a:solidFill>
            <a:schemeClr val="bg1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Interpretazione degli indici di performance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DC5184CE-92BA-4D78-BC19-52557A4CE66A}"/>
              </a:ext>
            </a:extLst>
          </p:cNvPr>
          <p:cNvCxnSpPr>
            <a:cxnSpLocks/>
          </p:cNvCxnSpPr>
          <p:nvPr/>
        </p:nvCxnSpPr>
        <p:spPr>
          <a:xfrm>
            <a:off x="9926153" y="5153534"/>
            <a:ext cx="0" cy="38761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F7C7549-2B6A-491A-8A37-332F99C3242E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7619061" y="5866733"/>
            <a:ext cx="779832" cy="91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aborazione 25">
            <a:extLst>
              <a:ext uri="{FF2B5EF4-FFF2-40B4-BE49-F238E27FC236}">
                <a16:creationId xmlns:a16="http://schemas.microsoft.com/office/drawing/2014/main" id="{6A6315CE-3FE8-440A-BD44-388A88F74587}"/>
              </a:ext>
            </a:extLst>
          </p:cNvPr>
          <p:cNvSpPr/>
          <p:nvPr/>
        </p:nvSpPr>
        <p:spPr>
          <a:xfrm>
            <a:off x="4395669" y="5510590"/>
            <a:ext cx="3223392" cy="714110"/>
          </a:xfrm>
          <a:prstGeom prst="flowChartProcess">
            <a:avLst/>
          </a:prstGeom>
          <a:solidFill>
            <a:schemeClr val="bg1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+mj-lt"/>
              </a:rPr>
              <a:t>Classifica delle variabili per importanza</a:t>
            </a:r>
          </a:p>
        </p:txBody>
      </p:sp>
      <p:sp>
        <p:nvSpPr>
          <p:cNvPr id="27" name="Elaborazione 26">
            <a:extLst>
              <a:ext uri="{FF2B5EF4-FFF2-40B4-BE49-F238E27FC236}">
                <a16:creationId xmlns:a16="http://schemas.microsoft.com/office/drawing/2014/main" id="{DF0335D9-8867-4E6F-A55E-5DB411FB6C64}"/>
              </a:ext>
            </a:extLst>
          </p:cNvPr>
          <p:cNvSpPr/>
          <p:nvPr/>
        </p:nvSpPr>
        <p:spPr>
          <a:xfrm>
            <a:off x="442732" y="5513479"/>
            <a:ext cx="3223392" cy="714111"/>
          </a:xfrm>
          <a:prstGeom prst="flowChartProcess">
            <a:avLst/>
          </a:prstGeom>
          <a:solidFill>
            <a:schemeClr val="bg1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Addestramento dell’algoritmo finale</a:t>
            </a:r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28C88815-B719-4A43-B027-3FA8B4CD1919}"/>
              </a:ext>
            </a:extLst>
          </p:cNvPr>
          <p:cNvCxnSpPr>
            <a:cxnSpLocks/>
          </p:cNvCxnSpPr>
          <p:nvPr/>
        </p:nvCxnSpPr>
        <p:spPr>
          <a:xfrm flipH="1">
            <a:off x="3664163" y="5880513"/>
            <a:ext cx="714848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nettore 28">
            <a:extLst>
              <a:ext uri="{FF2B5EF4-FFF2-40B4-BE49-F238E27FC236}">
                <a16:creationId xmlns:a16="http://schemas.microsoft.com/office/drawing/2014/main" id="{767F8140-6C19-477F-8B0B-08B262F73808}"/>
              </a:ext>
            </a:extLst>
          </p:cNvPr>
          <p:cNvSpPr/>
          <p:nvPr/>
        </p:nvSpPr>
        <p:spPr>
          <a:xfrm>
            <a:off x="503815" y="4015547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309E260A-F215-441E-92D9-80A32B82297D}"/>
              </a:ext>
            </a:extLst>
          </p:cNvPr>
          <p:cNvSpPr txBox="1"/>
          <p:nvPr/>
        </p:nvSpPr>
        <p:spPr>
          <a:xfrm>
            <a:off x="623032" y="3846006"/>
            <a:ext cx="1862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Le fasi:</a:t>
            </a:r>
          </a:p>
        </p:txBody>
      </p:sp>
      <p:sp>
        <p:nvSpPr>
          <p:cNvPr id="3" name="Rettangolo con due angoli in diagonale arrotondati 2">
            <a:extLst>
              <a:ext uri="{FF2B5EF4-FFF2-40B4-BE49-F238E27FC236}">
                <a16:creationId xmlns:a16="http://schemas.microsoft.com/office/drawing/2014/main" id="{79A8ED32-E314-4529-B8F2-EAC56895A4D6}"/>
              </a:ext>
            </a:extLst>
          </p:cNvPr>
          <p:cNvSpPr/>
          <p:nvPr/>
        </p:nvSpPr>
        <p:spPr>
          <a:xfrm>
            <a:off x="440778" y="944961"/>
            <a:ext cx="2554476" cy="871876"/>
          </a:xfrm>
          <a:prstGeom prst="round2DiagRect">
            <a:avLst/>
          </a:prstGeom>
          <a:solidFill>
            <a:schemeClr val="bg1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200" dirty="0">
                <a:solidFill>
                  <a:schemeClr val="tx1"/>
                </a:solidFill>
              </a:rPr>
              <a:t>Le malattie cardiovascolari</a:t>
            </a:r>
          </a:p>
        </p:txBody>
      </p:sp>
    </p:spTree>
    <p:extLst>
      <p:ext uri="{BB962C8B-B14F-4D97-AF65-F5344CB8AC3E}">
        <p14:creationId xmlns:p14="http://schemas.microsoft.com/office/powerpoint/2010/main" val="72187169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4FBF1DA9-2EA9-494C-ACE8-85E0812DAD2E}"/>
              </a:ext>
            </a:extLst>
          </p:cNvPr>
          <p:cNvSpPr txBox="1"/>
          <p:nvPr/>
        </p:nvSpPr>
        <p:spPr>
          <a:xfrm>
            <a:off x="2685336" y="1789"/>
            <a:ext cx="68213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latin typeface="+mj-lt"/>
              </a:rPr>
              <a:t>DATI E SOFTWARE</a:t>
            </a:r>
          </a:p>
        </p:txBody>
      </p:sp>
      <p:sp>
        <p:nvSpPr>
          <p:cNvPr id="7" name="Connettore 6">
            <a:extLst>
              <a:ext uri="{FF2B5EF4-FFF2-40B4-BE49-F238E27FC236}">
                <a16:creationId xmlns:a16="http://schemas.microsoft.com/office/drawing/2014/main" id="{367E2CC5-2A02-419A-9634-603EE17D448D}"/>
              </a:ext>
            </a:extLst>
          </p:cNvPr>
          <p:cNvSpPr/>
          <p:nvPr/>
        </p:nvSpPr>
        <p:spPr>
          <a:xfrm>
            <a:off x="701755" y="1182271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onnettore 7">
            <a:extLst>
              <a:ext uri="{FF2B5EF4-FFF2-40B4-BE49-F238E27FC236}">
                <a16:creationId xmlns:a16="http://schemas.microsoft.com/office/drawing/2014/main" id="{FAEAE8E9-4EA0-447E-A281-4BE1EE9BF7E9}"/>
              </a:ext>
            </a:extLst>
          </p:cNvPr>
          <p:cNvSpPr/>
          <p:nvPr/>
        </p:nvSpPr>
        <p:spPr>
          <a:xfrm>
            <a:off x="703416" y="5594024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6FE714A-75F1-4F34-B789-EB84DED25C1B}"/>
              </a:ext>
            </a:extLst>
          </p:cNvPr>
          <p:cNvSpPr txBox="1"/>
          <p:nvPr/>
        </p:nvSpPr>
        <p:spPr>
          <a:xfrm>
            <a:off x="928467" y="1043350"/>
            <a:ext cx="15193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Il dataset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0F1D991-0527-41B0-AD01-377389743D26}"/>
              </a:ext>
            </a:extLst>
          </p:cNvPr>
          <p:cNvSpPr txBox="1"/>
          <p:nvPr/>
        </p:nvSpPr>
        <p:spPr>
          <a:xfrm>
            <a:off x="928466" y="5435681"/>
            <a:ext cx="27291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I software utilizzati</a:t>
            </a:r>
          </a:p>
        </p:txBody>
      </p:sp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AE4C9D36-5E32-42D7-9A1A-4006061136D2}"/>
              </a:ext>
            </a:extLst>
          </p:cNvPr>
          <p:cNvSpPr/>
          <p:nvPr/>
        </p:nvSpPr>
        <p:spPr>
          <a:xfrm>
            <a:off x="3591390" y="5115804"/>
            <a:ext cx="817431" cy="382953"/>
          </a:xfrm>
          <a:prstGeom prst="right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DD091275-79DC-4020-B001-063D9674808D}"/>
              </a:ext>
            </a:extLst>
          </p:cNvPr>
          <p:cNvSpPr/>
          <p:nvPr/>
        </p:nvSpPr>
        <p:spPr>
          <a:xfrm>
            <a:off x="3591390" y="5806334"/>
            <a:ext cx="817431" cy="382953"/>
          </a:xfrm>
          <a:prstGeom prst="right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B55BB33-1F4F-419D-BEAC-C3F6C28B22FC}"/>
              </a:ext>
            </a:extLst>
          </p:cNvPr>
          <p:cNvSpPr txBox="1"/>
          <p:nvPr/>
        </p:nvSpPr>
        <p:spPr>
          <a:xfrm>
            <a:off x="4515103" y="5050348"/>
            <a:ext cx="772316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900" dirty="0" err="1"/>
              <a:t>RStudio</a:t>
            </a:r>
            <a:endParaRPr lang="it-IT" sz="19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EFD73C4-CAC1-400C-81D0-DCF1DF4393EC}"/>
              </a:ext>
            </a:extLst>
          </p:cNvPr>
          <p:cNvSpPr txBox="1"/>
          <p:nvPr/>
        </p:nvSpPr>
        <p:spPr>
          <a:xfrm>
            <a:off x="4518892" y="5776321"/>
            <a:ext cx="772316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900" dirty="0" err="1"/>
              <a:t>Weka</a:t>
            </a:r>
            <a:endParaRPr lang="it-IT" sz="1900" dirty="0"/>
          </a:p>
        </p:txBody>
      </p:sp>
      <p:pic>
        <p:nvPicPr>
          <p:cNvPr id="17" name="Immagine 16" descr="Immagine che contiene tavolo&#10;&#10;Descrizione generata automaticamente">
            <a:extLst>
              <a:ext uri="{FF2B5EF4-FFF2-40B4-BE49-F238E27FC236}">
                <a16:creationId xmlns:a16="http://schemas.microsoft.com/office/drawing/2014/main" id="{6B231472-5C93-4D5B-9DE5-2564C05A1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296" y="1176701"/>
            <a:ext cx="8581354" cy="2044238"/>
          </a:xfrm>
          <a:prstGeom prst="rect">
            <a:avLst/>
          </a:prstGeom>
        </p:spPr>
      </p:pic>
      <p:sp>
        <p:nvSpPr>
          <p:cNvPr id="19" name="Fumetto: rettangolo 18">
            <a:extLst>
              <a:ext uri="{FF2B5EF4-FFF2-40B4-BE49-F238E27FC236}">
                <a16:creationId xmlns:a16="http://schemas.microsoft.com/office/drawing/2014/main" id="{59B01C33-E831-41EF-96C0-C5AA82EBC8CE}"/>
              </a:ext>
            </a:extLst>
          </p:cNvPr>
          <p:cNvSpPr/>
          <p:nvPr/>
        </p:nvSpPr>
        <p:spPr>
          <a:xfrm>
            <a:off x="928466" y="1858609"/>
            <a:ext cx="1393808" cy="875125"/>
          </a:xfrm>
          <a:prstGeom prst="wedgeRectCallout">
            <a:avLst/>
          </a:prstGeom>
          <a:solidFill>
            <a:schemeClr val="bg1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299 righe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13 colonne</a:t>
            </a:r>
          </a:p>
        </p:txBody>
      </p:sp>
      <p:sp>
        <p:nvSpPr>
          <p:cNvPr id="21" name="Freccia angolare in su 20">
            <a:extLst>
              <a:ext uri="{FF2B5EF4-FFF2-40B4-BE49-F238E27FC236}">
                <a16:creationId xmlns:a16="http://schemas.microsoft.com/office/drawing/2014/main" id="{FCBF60FB-DAA3-45D5-A577-12F925EC6A4C}"/>
              </a:ext>
            </a:extLst>
          </p:cNvPr>
          <p:cNvSpPr/>
          <p:nvPr/>
        </p:nvSpPr>
        <p:spPr>
          <a:xfrm rot="5400000">
            <a:off x="1764547" y="3046238"/>
            <a:ext cx="759668" cy="1525192"/>
          </a:xfrm>
          <a:prstGeom prst="bentUp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0F05C41-CBA5-4A7D-8746-7E8D5BA0BF1D}"/>
              </a:ext>
            </a:extLst>
          </p:cNvPr>
          <p:cNvSpPr txBox="1"/>
          <p:nvPr/>
        </p:nvSpPr>
        <p:spPr>
          <a:xfrm>
            <a:off x="3013617" y="3654490"/>
            <a:ext cx="7155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La variabile target è "DEATH_EVENT", assume il valore 0 se il paziente è sopravvissuto, 1 altrimenti</a:t>
            </a:r>
          </a:p>
        </p:txBody>
      </p:sp>
    </p:spTree>
    <p:extLst>
      <p:ext uri="{BB962C8B-B14F-4D97-AF65-F5344CB8AC3E}">
        <p14:creationId xmlns:p14="http://schemas.microsoft.com/office/powerpoint/2010/main" val="188390774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60071DFE-C1CD-4961-AC2B-C30902ACA525}"/>
              </a:ext>
            </a:extLst>
          </p:cNvPr>
          <p:cNvSpPr txBox="1"/>
          <p:nvPr/>
        </p:nvSpPr>
        <p:spPr>
          <a:xfrm>
            <a:off x="1692015" y="0"/>
            <a:ext cx="8807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latin typeface="+mj-lt"/>
              </a:rPr>
              <a:t>ANALISI ESPLORATIVA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8DDDEBD-4500-4383-9BD3-46D4CDE8038E}"/>
              </a:ext>
            </a:extLst>
          </p:cNvPr>
          <p:cNvSpPr txBox="1"/>
          <p:nvPr/>
        </p:nvSpPr>
        <p:spPr>
          <a:xfrm>
            <a:off x="4413632" y="3651380"/>
            <a:ext cx="2805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No </a:t>
            </a:r>
            <a:r>
              <a:rPr lang="it-IT" sz="2200" dirty="0" err="1"/>
              <a:t>missing</a:t>
            </a:r>
            <a:r>
              <a:rPr lang="it-IT" sz="2200" dirty="0"/>
              <a:t> </a:t>
            </a:r>
            <a:r>
              <a:rPr lang="it-IT" sz="2200" dirty="0" err="1"/>
              <a:t>values</a:t>
            </a:r>
            <a:endParaRPr lang="it-IT" sz="2200" dirty="0"/>
          </a:p>
        </p:txBody>
      </p:sp>
      <p:sp>
        <p:nvSpPr>
          <p:cNvPr id="12" name="Stella a 7 punte 11">
            <a:extLst>
              <a:ext uri="{FF2B5EF4-FFF2-40B4-BE49-F238E27FC236}">
                <a16:creationId xmlns:a16="http://schemas.microsoft.com/office/drawing/2014/main" id="{EF073254-071B-4B87-A3E1-C54FC5E2A54A}"/>
              </a:ext>
            </a:extLst>
          </p:cNvPr>
          <p:cNvSpPr/>
          <p:nvPr/>
        </p:nvSpPr>
        <p:spPr>
          <a:xfrm>
            <a:off x="4158249" y="3798824"/>
            <a:ext cx="162232" cy="136000"/>
          </a:xfrm>
          <a:prstGeom prst="star7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Stella a 7 punte 15">
            <a:extLst>
              <a:ext uri="{FF2B5EF4-FFF2-40B4-BE49-F238E27FC236}">
                <a16:creationId xmlns:a16="http://schemas.microsoft.com/office/drawing/2014/main" id="{B70A9E78-2C0A-436F-A934-BF84C4071CA1}"/>
              </a:ext>
            </a:extLst>
          </p:cNvPr>
          <p:cNvSpPr/>
          <p:nvPr/>
        </p:nvSpPr>
        <p:spPr>
          <a:xfrm>
            <a:off x="4153049" y="5742598"/>
            <a:ext cx="162232" cy="136000"/>
          </a:xfrm>
          <a:prstGeom prst="star7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814F3E4-7A13-4734-B6AD-1C89CD60B191}"/>
              </a:ext>
            </a:extLst>
          </p:cNvPr>
          <p:cNvSpPr txBox="1"/>
          <p:nvPr/>
        </p:nvSpPr>
        <p:spPr>
          <a:xfrm>
            <a:off x="4380566" y="5615670"/>
            <a:ext cx="4716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Le classi risultano leggermente sbilanciate (68%-32%)</a:t>
            </a:r>
          </a:p>
        </p:txBody>
      </p:sp>
      <p:sp>
        <p:nvSpPr>
          <p:cNvPr id="17" name="Stella a 7 punte 16">
            <a:extLst>
              <a:ext uri="{FF2B5EF4-FFF2-40B4-BE49-F238E27FC236}">
                <a16:creationId xmlns:a16="http://schemas.microsoft.com/office/drawing/2014/main" id="{730BC3D4-DA3A-495E-9FA7-BA1DEF7EE6B4}"/>
              </a:ext>
            </a:extLst>
          </p:cNvPr>
          <p:cNvSpPr/>
          <p:nvPr/>
        </p:nvSpPr>
        <p:spPr>
          <a:xfrm>
            <a:off x="4153049" y="4734426"/>
            <a:ext cx="162232" cy="136000"/>
          </a:xfrm>
          <a:prstGeom prst="star7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5D6D619-BDA8-442D-9049-9D3E2C2D0E44}"/>
              </a:ext>
            </a:extLst>
          </p:cNvPr>
          <p:cNvSpPr txBox="1"/>
          <p:nvPr/>
        </p:nvSpPr>
        <p:spPr>
          <a:xfrm>
            <a:off x="4413632" y="4586982"/>
            <a:ext cx="50017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Le variabili booleane sono salvate come variabili di tipo numerico</a:t>
            </a:r>
          </a:p>
        </p:txBody>
      </p:sp>
      <p:sp>
        <p:nvSpPr>
          <p:cNvPr id="18" name="Connettore 17">
            <a:extLst>
              <a:ext uri="{FF2B5EF4-FFF2-40B4-BE49-F238E27FC236}">
                <a16:creationId xmlns:a16="http://schemas.microsoft.com/office/drawing/2014/main" id="{01219174-246E-40F9-A813-956FD98E6F62}"/>
              </a:ext>
            </a:extLst>
          </p:cNvPr>
          <p:cNvSpPr/>
          <p:nvPr/>
        </p:nvSpPr>
        <p:spPr>
          <a:xfrm>
            <a:off x="938508" y="1367979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0D40936-E3CD-48DB-86CB-EC56227B1075}"/>
              </a:ext>
            </a:extLst>
          </p:cNvPr>
          <p:cNvSpPr txBox="1"/>
          <p:nvPr/>
        </p:nvSpPr>
        <p:spPr>
          <a:xfrm>
            <a:off x="1137008" y="1207065"/>
            <a:ext cx="704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Per capire caratteristiche ed eventuali problemi delle grandezze disponibili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428F112-F780-4A84-A915-3F3FDC24E5E9}"/>
              </a:ext>
            </a:extLst>
          </p:cNvPr>
          <p:cNvSpPr txBox="1"/>
          <p:nvPr/>
        </p:nvSpPr>
        <p:spPr>
          <a:xfrm>
            <a:off x="1166025" y="3042081"/>
            <a:ext cx="29600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Panoramica generale:</a:t>
            </a:r>
          </a:p>
        </p:txBody>
      </p:sp>
      <p:sp>
        <p:nvSpPr>
          <p:cNvPr id="23" name="Freccia a destra 22">
            <a:extLst>
              <a:ext uri="{FF2B5EF4-FFF2-40B4-BE49-F238E27FC236}">
                <a16:creationId xmlns:a16="http://schemas.microsoft.com/office/drawing/2014/main" id="{BE2A707F-3CE2-4931-B254-ABF336FFAE53}"/>
              </a:ext>
            </a:extLst>
          </p:cNvPr>
          <p:cNvSpPr/>
          <p:nvPr/>
        </p:nvSpPr>
        <p:spPr>
          <a:xfrm rot="5400000">
            <a:off x="1268446" y="2311252"/>
            <a:ext cx="847136" cy="382953"/>
          </a:xfrm>
          <a:prstGeom prst="right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449613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9D3E105C-8812-4C49-ACAA-4848E5E96BA9}"/>
              </a:ext>
            </a:extLst>
          </p:cNvPr>
          <p:cNvSpPr txBox="1"/>
          <p:nvPr/>
        </p:nvSpPr>
        <p:spPr>
          <a:xfrm>
            <a:off x="270952" y="-27876"/>
            <a:ext cx="11650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latin typeface="+mj-lt"/>
              </a:rPr>
              <a:t>ANALISI ESPLORATIVA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A9ADE34-FF7E-4CC0-9553-C683DE1C5E09}"/>
              </a:ext>
            </a:extLst>
          </p:cNvPr>
          <p:cNvSpPr txBox="1"/>
          <p:nvPr/>
        </p:nvSpPr>
        <p:spPr>
          <a:xfrm>
            <a:off x="1019415" y="983089"/>
            <a:ext cx="46203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Analisi </a:t>
            </a:r>
            <a:r>
              <a:rPr lang="it-IT" sz="2200" dirty="0" err="1"/>
              <a:t>bivariata</a:t>
            </a:r>
            <a:endParaRPr lang="it-IT" sz="220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BDBE39C-5A8F-4581-8D64-1413507316A9}"/>
              </a:ext>
            </a:extLst>
          </p:cNvPr>
          <p:cNvSpPr txBox="1"/>
          <p:nvPr/>
        </p:nvSpPr>
        <p:spPr>
          <a:xfrm>
            <a:off x="1022144" y="2092661"/>
            <a:ext cx="93436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Per le variabili quantitative: tabelle frequenze congiunte</a:t>
            </a:r>
          </a:p>
        </p:txBody>
      </p:sp>
      <p:sp>
        <p:nvSpPr>
          <p:cNvPr id="31" name="Connettore 30">
            <a:extLst>
              <a:ext uri="{FF2B5EF4-FFF2-40B4-BE49-F238E27FC236}">
                <a16:creationId xmlns:a16="http://schemas.microsoft.com/office/drawing/2014/main" id="{3C83E9EE-7539-4A4A-8A90-6A961537CF6D}"/>
              </a:ext>
            </a:extLst>
          </p:cNvPr>
          <p:cNvSpPr/>
          <p:nvPr/>
        </p:nvSpPr>
        <p:spPr>
          <a:xfrm>
            <a:off x="789161" y="1128430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Freccia a destra 34">
            <a:extLst>
              <a:ext uri="{FF2B5EF4-FFF2-40B4-BE49-F238E27FC236}">
                <a16:creationId xmlns:a16="http://schemas.microsoft.com/office/drawing/2014/main" id="{616AA2AD-1100-4A7F-8E07-26CBF2AF0731}"/>
              </a:ext>
            </a:extLst>
          </p:cNvPr>
          <p:cNvSpPr/>
          <p:nvPr/>
        </p:nvSpPr>
        <p:spPr>
          <a:xfrm>
            <a:off x="3220951" y="1047419"/>
            <a:ext cx="1090042" cy="375783"/>
          </a:xfrm>
          <a:prstGeom prst="right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9BAE5B6-337E-49DD-818B-F351243D54A6}"/>
              </a:ext>
            </a:extLst>
          </p:cNvPr>
          <p:cNvSpPr txBox="1"/>
          <p:nvPr/>
        </p:nvSpPr>
        <p:spPr>
          <a:xfrm>
            <a:off x="4310993" y="850589"/>
            <a:ext cx="58823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Per studiare il potere discriminante di ciascuna feature rispetto alla variabile target</a:t>
            </a:r>
          </a:p>
        </p:txBody>
      </p:sp>
      <p:sp>
        <p:nvSpPr>
          <p:cNvPr id="36" name="Freccia angolare in su 35">
            <a:extLst>
              <a:ext uri="{FF2B5EF4-FFF2-40B4-BE49-F238E27FC236}">
                <a16:creationId xmlns:a16="http://schemas.microsoft.com/office/drawing/2014/main" id="{04ADEC6F-4E28-435A-921D-E92F7E6930FF}"/>
              </a:ext>
            </a:extLst>
          </p:cNvPr>
          <p:cNvSpPr/>
          <p:nvPr/>
        </p:nvSpPr>
        <p:spPr>
          <a:xfrm rot="5400000">
            <a:off x="1436498" y="2223739"/>
            <a:ext cx="384723" cy="984342"/>
          </a:xfrm>
          <a:prstGeom prst="bentUp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D5A17DF-26BA-4C4E-9DC0-922F8D687C8D}"/>
              </a:ext>
            </a:extLst>
          </p:cNvPr>
          <p:cNvSpPr txBox="1"/>
          <p:nvPr/>
        </p:nvSpPr>
        <p:spPr>
          <a:xfrm>
            <a:off x="2121031" y="2441954"/>
            <a:ext cx="5703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Risultato: non vi è una variabile in grado di garantire una buona separazione 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708433A9-3453-4DA1-AD68-B383C2B25D7A}"/>
              </a:ext>
            </a:extLst>
          </p:cNvPr>
          <p:cNvSpPr txBox="1"/>
          <p:nvPr/>
        </p:nvSpPr>
        <p:spPr>
          <a:xfrm>
            <a:off x="1022144" y="3293341"/>
            <a:ext cx="93436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Per le variabili quantitative: grafici </a:t>
            </a:r>
            <a:r>
              <a:rPr lang="it-IT" sz="2200" dirty="0" err="1"/>
              <a:t>boxplot</a:t>
            </a:r>
            <a:endParaRPr lang="it-IT" sz="2200" dirty="0"/>
          </a:p>
        </p:txBody>
      </p:sp>
      <p:sp>
        <p:nvSpPr>
          <p:cNvPr id="39" name="Freccia angolare in su 38">
            <a:extLst>
              <a:ext uri="{FF2B5EF4-FFF2-40B4-BE49-F238E27FC236}">
                <a16:creationId xmlns:a16="http://schemas.microsoft.com/office/drawing/2014/main" id="{20FACEF7-A039-4A34-B626-433CDB200DB0}"/>
              </a:ext>
            </a:extLst>
          </p:cNvPr>
          <p:cNvSpPr/>
          <p:nvPr/>
        </p:nvSpPr>
        <p:spPr>
          <a:xfrm rot="5400000">
            <a:off x="1436498" y="3424419"/>
            <a:ext cx="384723" cy="984342"/>
          </a:xfrm>
          <a:prstGeom prst="bentUp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AC8972C4-D101-40BD-B7B5-BB6437A588D6}"/>
              </a:ext>
            </a:extLst>
          </p:cNvPr>
          <p:cNvSpPr txBox="1"/>
          <p:nvPr/>
        </p:nvSpPr>
        <p:spPr>
          <a:xfrm>
            <a:off x="2121031" y="3784922"/>
            <a:ext cx="57032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Risultato: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4F858570-24BA-4C3A-80A4-2F347AE47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702" y="3740520"/>
            <a:ext cx="6129362" cy="3018500"/>
          </a:xfrm>
          <a:prstGeom prst="rect">
            <a:avLst/>
          </a:prstGeom>
        </p:spPr>
      </p:pic>
      <p:sp>
        <p:nvSpPr>
          <p:cNvPr id="41" name="Connettore 40">
            <a:extLst>
              <a:ext uri="{FF2B5EF4-FFF2-40B4-BE49-F238E27FC236}">
                <a16:creationId xmlns:a16="http://schemas.microsoft.com/office/drawing/2014/main" id="{48F649A0-D451-4C20-B486-C5E1BF14083E}"/>
              </a:ext>
            </a:extLst>
          </p:cNvPr>
          <p:cNvSpPr/>
          <p:nvPr/>
        </p:nvSpPr>
        <p:spPr>
          <a:xfrm>
            <a:off x="780421" y="3429000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Connettore 41">
            <a:extLst>
              <a:ext uri="{FF2B5EF4-FFF2-40B4-BE49-F238E27FC236}">
                <a16:creationId xmlns:a16="http://schemas.microsoft.com/office/drawing/2014/main" id="{4F78C0FB-1A82-4B5F-87A0-6CCCA8121895}"/>
              </a:ext>
            </a:extLst>
          </p:cNvPr>
          <p:cNvSpPr/>
          <p:nvPr/>
        </p:nvSpPr>
        <p:spPr>
          <a:xfrm>
            <a:off x="780421" y="2249232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454903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9D3E105C-8812-4C49-ACAA-4848E5E96BA9}"/>
              </a:ext>
            </a:extLst>
          </p:cNvPr>
          <p:cNvSpPr txBox="1"/>
          <p:nvPr/>
        </p:nvSpPr>
        <p:spPr>
          <a:xfrm>
            <a:off x="270952" y="-27876"/>
            <a:ext cx="11650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latin typeface="+mj-lt"/>
              </a:rPr>
              <a:t>ANALISI ESPLORATIVA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A9ADE34-FF7E-4CC0-9553-C683DE1C5E09}"/>
              </a:ext>
            </a:extLst>
          </p:cNvPr>
          <p:cNvSpPr txBox="1"/>
          <p:nvPr/>
        </p:nvSpPr>
        <p:spPr>
          <a:xfrm>
            <a:off x="902518" y="868631"/>
            <a:ext cx="46203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Analisi multivariata</a:t>
            </a:r>
          </a:p>
        </p:txBody>
      </p:sp>
      <p:sp>
        <p:nvSpPr>
          <p:cNvPr id="31" name="Connettore 30">
            <a:extLst>
              <a:ext uri="{FF2B5EF4-FFF2-40B4-BE49-F238E27FC236}">
                <a16:creationId xmlns:a16="http://schemas.microsoft.com/office/drawing/2014/main" id="{3C83E9EE-7539-4A4A-8A90-6A961537CF6D}"/>
              </a:ext>
            </a:extLst>
          </p:cNvPr>
          <p:cNvSpPr/>
          <p:nvPr/>
        </p:nvSpPr>
        <p:spPr>
          <a:xfrm>
            <a:off x="789161" y="1015306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Freccia a destra 34">
            <a:extLst>
              <a:ext uri="{FF2B5EF4-FFF2-40B4-BE49-F238E27FC236}">
                <a16:creationId xmlns:a16="http://schemas.microsoft.com/office/drawing/2014/main" id="{616AA2AD-1100-4A7F-8E07-26CBF2AF0731}"/>
              </a:ext>
            </a:extLst>
          </p:cNvPr>
          <p:cNvSpPr/>
          <p:nvPr/>
        </p:nvSpPr>
        <p:spPr>
          <a:xfrm>
            <a:off x="3513180" y="905316"/>
            <a:ext cx="1209851" cy="375783"/>
          </a:xfrm>
          <a:prstGeom prst="right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9BAE5B6-337E-49DD-818B-F351243D54A6}"/>
              </a:ext>
            </a:extLst>
          </p:cNvPr>
          <p:cNvSpPr txBox="1"/>
          <p:nvPr/>
        </p:nvSpPr>
        <p:spPr>
          <a:xfrm>
            <a:off x="4723032" y="886958"/>
            <a:ext cx="58823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Per studiare correlazioni tra le esplicative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8852559-1361-4DE7-8979-A44AD5218004}"/>
              </a:ext>
            </a:extLst>
          </p:cNvPr>
          <p:cNvSpPr txBox="1"/>
          <p:nvPr/>
        </p:nvSpPr>
        <p:spPr>
          <a:xfrm>
            <a:off x="902518" y="1837280"/>
            <a:ext cx="90804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Grafici di dispersione tra coppie di variabili numeriche con data point distinti per classe di appartenenza</a:t>
            </a:r>
          </a:p>
        </p:txBody>
      </p:sp>
      <p:sp>
        <p:nvSpPr>
          <p:cNvPr id="17" name="Freccia angolare in su 16">
            <a:extLst>
              <a:ext uri="{FF2B5EF4-FFF2-40B4-BE49-F238E27FC236}">
                <a16:creationId xmlns:a16="http://schemas.microsoft.com/office/drawing/2014/main" id="{E85BB041-77F8-4D71-93B3-99C1D8BC9004}"/>
              </a:ext>
            </a:extLst>
          </p:cNvPr>
          <p:cNvSpPr/>
          <p:nvPr/>
        </p:nvSpPr>
        <p:spPr>
          <a:xfrm rot="5400000">
            <a:off x="1370510" y="2306912"/>
            <a:ext cx="384723" cy="984342"/>
          </a:xfrm>
          <a:prstGeom prst="bentUp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35A6B80-B2CA-44FD-A969-9AD8F71F032C}"/>
              </a:ext>
            </a:extLst>
          </p:cNvPr>
          <p:cNvSpPr txBox="1"/>
          <p:nvPr/>
        </p:nvSpPr>
        <p:spPr>
          <a:xfrm>
            <a:off x="2121031" y="2688990"/>
            <a:ext cx="23189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Risultato</a:t>
            </a:r>
            <a:r>
              <a:rPr lang="it-IT" dirty="0"/>
              <a:t>: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93D3637-E8AF-4BAB-BC2D-5A39E71C8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765" y="2799083"/>
            <a:ext cx="7373735" cy="3679845"/>
          </a:xfrm>
          <a:prstGeom prst="rect">
            <a:avLst/>
          </a:prstGeom>
        </p:spPr>
      </p:pic>
      <p:sp>
        <p:nvSpPr>
          <p:cNvPr id="21" name="Connettore 20">
            <a:extLst>
              <a:ext uri="{FF2B5EF4-FFF2-40B4-BE49-F238E27FC236}">
                <a16:creationId xmlns:a16="http://schemas.microsoft.com/office/drawing/2014/main" id="{C2CCFD11-4AD4-40BC-BF93-9F96597661BD}"/>
              </a:ext>
            </a:extLst>
          </p:cNvPr>
          <p:cNvSpPr/>
          <p:nvPr/>
        </p:nvSpPr>
        <p:spPr>
          <a:xfrm>
            <a:off x="789161" y="1987837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351404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D9AB3CAD-2AA9-404A-9F8E-C583A2A18D9E}"/>
              </a:ext>
            </a:extLst>
          </p:cNvPr>
          <p:cNvSpPr txBox="1"/>
          <p:nvPr/>
        </p:nvSpPr>
        <p:spPr>
          <a:xfrm>
            <a:off x="3409207" y="0"/>
            <a:ext cx="53735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latin typeface="+mj-lt"/>
              </a:rPr>
              <a:t>PREPROCESSING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A7822F0-1517-46AF-ADD9-3DC468537828}"/>
              </a:ext>
            </a:extLst>
          </p:cNvPr>
          <p:cNvSpPr txBox="1"/>
          <p:nvPr/>
        </p:nvSpPr>
        <p:spPr>
          <a:xfrm>
            <a:off x="1254391" y="927879"/>
            <a:ext cx="105506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Sulla base dei risultati ottenuti nell'analisi esplorativa</a:t>
            </a:r>
          </a:p>
        </p:txBody>
      </p:sp>
      <p:sp>
        <p:nvSpPr>
          <p:cNvPr id="24" name="Connettore 23">
            <a:extLst>
              <a:ext uri="{FF2B5EF4-FFF2-40B4-BE49-F238E27FC236}">
                <a16:creationId xmlns:a16="http://schemas.microsoft.com/office/drawing/2014/main" id="{F94E906F-E0E8-4613-A6D6-A5E1019996CA}"/>
              </a:ext>
            </a:extLst>
          </p:cNvPr>
          <p:cNvSpPr/>
          <p:nvPr/>
        </p:nvSpPr>
        <p:spPr>
          <a:xfrm>
            <a:off x="898359" y="1089883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Stella a 7 punte 26">
            <a:extLst>
              <a:ext uri="{FF2B5EF4-FFF2-40B4-BE49-F238E27FC236}">
                <a16:creationId xmlns:a16="http://schemas.microsoft.com/office/drawing/2014/main" id="{2391E917-520F-485D-9E85-111A909EBEB9}"/>
              </a:ext>
            </a:extLst>
          </p:cNvPr>
          <p:cNvSpPr/>
          <p:nvPr/>
        </p:nvSpPr>
        <p:spPr>
          <a:xfrm>
            <a:off x="2563461" y="1558954"/>
            <a:ext cx="162232" cy="136000"/>
          </a:xfrm>
          <a:prstGeom prst="star7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Freccia angolare in su 30">
            <a:extLst>
              <a:ext uri="{FF2B5EF4-FFF2-40B4-BE49-F238E27FC236}">
                <a16:creationId xmlns:a16="http://schemas.microsoft.com/office/drawing/2014/main" id="{ADE07A41-C4B0-4DA3-9BE0-8C3C1453E3F3}"/>
              </a:ext>
            </a:extLst>
          </p:cNvPr>
          <p:cNvSpPr/>
          <p:nvPr/>
        </p:nvSpPr>
        <p:spPr>
          <a:xfrm rot="5400000">
            <a:off x="1687360" y="1058957"/>
            <a:ext cx="384723" cy="984342"/>
          </a:xfrm>
          <a:prstGeom prst="bentUp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8E0446F-F3B9-491D-8367-6B226599CDCF}"/>
              </a:ext>
            </a:extLst>
          </p:cNvPr>
          <p:cNvSpPr txBox="1"/>
          <p:nvPr/>
        </p:nvSpPr>
        <p:spPr>
          <a:xfrm>
            <a:off x="2917261" y="1408513"/>
            <a:ext cx="49024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i="0" dirty="0">
                <a:solidFill>
                  <a:srgbClr val="202124"/>
                </a:solidFill>
                <a:effectLst/>
                <a:latin typeface="+mj-lt"/>
              </a:rPr>
              <a:t>È stata e</a:t>
            </a:r>
            <a:r>
              <a:rPr lang="it-IT" sz="2200" dirty="0">
                <a:latin typeface="+mj-lt"/>
              </a:rPr>
              <a:t>liminata </a:t>
            </a:r>
            <a:r>
              <a:rPr lang="it-IT" sz="2200" dirty="0"/>
              <a:t>la variabile "time"</a:t>
            </a:r>
          </a:p>
        </p:txBody>
      </p:sp>
      <p:sp>
        <p:nvSpPr>
          <p:cNvPr id="32" name="Stella a 7 punte 31">
            <a:extLst>
              <a:ext uri="{FF2B5EF4-FFF2-40B4-BE49-F238E27FC236}">
                <a16:creationId xmlns:a16="http://schemas.microsoft.com/office/drawing/2014/main" id="{CCE4F5FA-F6FF-4C9F-A76C-8F169564DFED}"/>
              </a:ext>
            </a:extLst>
          </p:cNvPr>
          <p:cNvSpPr/>
          <p:nvPr/>
        </p:nvSpPr>
        <p:spPr>
          <a:xfrm>
            <a:off x="2563461" y="2037066"/>
            <a:ext cx="162232" cy="136000"/>
          </a:xfrm>
          <a:prstGeom prst="star7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F8F7CFF5-99EE-41AB-BAC0-2166DB073123}"/>
              </a:ext>
            </a:extLst>
          </p:cNvPr>
          <p:cNvSpPr txBox="1"/>
          <p:nvPr/>
        </p:nvSpPr>
        <p:spPr>
          <a:xfrm>
            <a:off x="2917260" y="1870633"/>
            <a:ext cx="70465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Le variabili booleane sono state trasformate in </a:t>
            </a:r>
            <a:r>
              <a:rPr lang="it-IT" sz="2200" dirty="0" err="1"/>
              <a:t>factor</a:t>
            </a:r>
            <a:r>
              <a:rPr lang="it-IT" sz="2200" dirty="0"/>
              <a:t> </a:t>
            </a:r>
          </a:p>
        </p:txBody>
      </p:sp>
      <p:sp>
        <p:nvSpPr>
          <p:cNvPr id="36" name="Stella a 7 punte 35">
            <a:extLst>
              <a:ext uri="{FF2B5EF4-FFF2-40B4-BE49-F238E27FC236}">
                <a16:creationId xmlns:a16="http://schemas.microsoft.com/office/drawing/2014/main" id="{A3BCD757-A8DD-4137-9DDE-5C67B9EE3211}"/>
              </a:ext>
            </a:extLst>
          </p:cNvPr>
          <p:cNvSpPr/>
          <p:nvPr/>
        </p:nvSpPr>
        <p:spPr>
          <a:xfrm>
            <a:off x="2563461" y="2500992"/>
            <a:ext cx="162232" cy="136000"/>
          </a:xfrm>
          <a:prstGeom prst="star7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598FFD0A-84F5-42B0-80FE-E1009740BED0}"/>
              </a:ext>
            </a:extLst>
          </p:cNvPr>
          <p:cNvSpPr txBox="1"/>
          <p:nvPr/>
        </p:nvSpPr>
        <p:spPr>
          <a:xfrm>
            <a:off x="2917260" y="2353549"/>
            <a:ext cx="7046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Le variabili "creatinine </a:t>
            </a:r>
            <a:r>
              <a:rPr lang="it-IT" sz="2200" dirty="0" err="1"/>
              <a:t>phosphokinase</a:t>
            </a:r>
            <a:r>
              <a:rPr lang="it-IT" sz="2200" dirty="0"/>
              <a:t>" e "</a:t>
            </a:r>
            <a:r>
              <a:rPr lang="it-IT" sz="2200" dirty="0" err="1"/>
              <a:t>serum</a:t>
            </a:r>
            <a:r>
              <a:rPr lang="it-IT" sz="2200" dirty="0"/>
              <a:t> creatinine" sono state log-linearizzate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80EFEF9-2E2D-4D33-8113-FD43C08ED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785" y="3098985"/>
            <a:ext cx="6866057" cy="3638286"/>
          </a:xfrm>
          <a:prstGeom prst="rect">
            <a:avLst/>
          </a:prstGeom>
        </p:spPr>
      </p:pic>
      <p:sp>
        <p:nvSpPr>
          <p:cNvPr id="38" name="Freccia angolare in su 37">
            <a:extLst>
              <a:ext uri="{FF2B5EF4-FFF2-40B4-BE49-F238E27FC236}">
                <a16:creationId xmlns:a16="http://schemas.microsoft.com/office/drawing/2014/main" id="{917DC264-69DB-47BB-8364-44D73AE8ECD0}"/>
              </a:ext>
            </a:extLst>
          </p:cNvPr>
          <p:cNvSpPr/>
          <p:nvPr/>
        </p:nvSpPr>
        <p:spPr>
          <a:xfrm rot="5400000">
            <a:off x="3598655" y="2875210"/>
            <a:ext cx="384723" cy="984342"/>
          </a:xfrm>
          <a:prstGeom prst="bentUp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191018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D9AB3CAD-2AA9-404A-9F8E-C583A2A18D9E}"/>
              </a:ext>
            </a:extLst>
          </p:cNvPr>
          <p:cNvSpPr txBox="1"/>
          <p:nvPr/>
        </p:nvSpPr>
        <p:spPr>
          <a:xfrm>
            <a:off x="739221" y="1834"/>
            <a:ext cx="10713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latin typeface="+mj-lt"/>
              </a:rPr>
              <a:t>VALIDAZIONE E BONTÀ ALGORITMI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A7822F0-1517-46AF-ADD9-3DC468537828}"/>
              </a:ext>
            </a:extLst>
          </p:cNvPr>
          <p:cNvSpPr txBox="1"/>
          <p:nvPr/>
        </p:nvSpPr>
        <p:spPr>
          <a:xfrm>
            <a:off x="1373608" y="2387626"/>
            <a:ext cx="105506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Cross </a:t>
            </a:r>
            <a:r>
              <a:rPr lang="it-IT" sz="2200" dirty="0" err="1"/>
              <a:t>validation</a:t>
            </a:r>
            <a:r>
              <a:rPr lang="it-IT" sz="2200" dirty="0"/>
              <a:t> eseguita con </a:t>
            </a:r>
            <a:r>
              <a:rPr lang="it-IT" sz="2200" dirty="0" err="1"/>
              <a:t>hold</a:t>
            </a:r>
            <a:r>
              <a:rPr lang="it-IT" sz="2200" dirty="0"/>
              <a:t>-out con T=100</a:t>
            </a:r>
          </a:p>
        </p:txBody>
      </p:sp>
      <p:sp>
        <p:nvSpPr>
          <p:cNvPr id="24" name="Connettore 23">
            <a:extLst>
              <a:ext uri="{FF2B5EF4-FFF2-40B4-BE49-F238E27FC236}">
                <a16:creationId xmlns:a16="http://schemas.microsoft.com/office/drawing/2014/main" id="{F94E906F-E0E8-4613-A6D6-A5E1019996CA}"/>
              </a:ext>
            </a:extLst>
          </p:cNvPr>
          <p:cNvSpPr/>
          <p:nvPr/>
        </p:nvSpPr>
        <p:spPr>
          <a:xfrm>
            <a:off x="1017576" y="2549630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5ABBD76-6EDB-4227-8D73-543477A76269}"/>
              </a:ext>
            </a:extLst>
          </p:cNvPr>
          <p:cNvSpPr txBox="1"/>
          <p:nvPr/>
        </p:nvSpPr>
        <p:spPr>
          <a:xfrm>
            <a:off x="1373608" y="3447473"/>
            <a:ext cx="105506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La capacità previsiva degli algoritmo è stata valutata tramite diversi indicatori:</a:t>
            </a:r>
          </a:p>
        </p:txBody>
      </p:sp>
      <p:sp>
        <p:nvSpPr>
          <p:cNvPr id="16" name="Connettore 15">
            <a:extLst>
              <a:ext uri="{FF2B5EF4-FFF2-40B4-BE49-F238E27FC236}">
                <a16:creationId xmlns:a16="http://schemas.microsoft.com/office/drawing/2014/main" id="{FDD17988-DD66-420A-BD9E-4ED29439E4CC}"/>
              </a:ext>
            </a:extLst>
          </p:cNvPr>
          <p:cNvSpPr/>
          <p:nvPr/>
        </p:nvSpPr>
        <p:spPr>
          <a:xfrm>
            <a:off x="1017576" y="3609477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Stella a 7 punte 16">
            <a:extLst>
              <a:ext uri="{FF2B5EF4-FFF2-40B4-BE49-F238E27FC236}">
                <a16:creationId xmlns:a16="http://schemas.microsoft.com/office/drawing/2014/main" id="{862E4E08-376D-4D4F-9DD5-ED1283D8FE0F}"/>
              </a:ext>
            </a:extLst>
          </p:cNvPr>
          <p:cNvSpPr/>
          <p:nvPr/>
        </p:nvSpPr>
        <p:spPr>
          <a:xfrm>
            <a:off x="3757366" y="4214344"/>
            <a:ext cx="162232" cy="136000"/>
          </a:xfrm>
          <a:prstGeom prst="star7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077C310-D124-43E9-82B4-ED1CFF89E927}"/>
              </a:ext>
            </a:extLst>
          </p:cNvPr>
          <p:cNvSpPr txBox="1"/>
          <p:nvPr/>
        </p:nvSpPr>
        <p:spPr>
          <a:xfrm>
            <a:off x="4005685" y="4066900"/>
            <a:ext cx="5029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Accuratezza</a:t>
            </a:r>
          </a:p>
        </p:txBody>
      </p:sp>
      <p:sp>
        <p:nvSpPr>
          <p:cNvPr id="19" name="Stella a 7 punte 18">
            <a:extLst>
              <a:ext uri="{FF2B5EF4-FFF2-40B4-BE49-F238E27FC236}">
                <a16:creationId xmlns:a16="http://schemas.microsoft.com/office/drawing/2014/main" id="{D4ED3DDB-CF15-446B-94D6-78F50C06C283}"/>
              </a:ext>
            </a:extLst>
          </p:cNvPr>
          <p:cNvSpPr/>
          <p:nvPr/>
        </p:nvSpPr>
        <p:spPr>
          <a:xfrm>
            <a:off x="3757366" y="4629138"/>
            <a:ext cx="162232" cy="136000"/>
          </a:xfrm>
          <a:prstGeom prst="star7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CB6FCF4-37B0-488C-878E-1E7393114B6D}"/>
              </a:ext>
            </a:extLst>
          </p:cNvPr>
          <p:cNvSpPr txBox="1"/>
          <p:nvPr/>
        </p:nvSpPr>
        <p:spPr>
          <a:xfrm>
            <a:off x="4005685" y="4481694"/>
            <a:ext cx="5029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Accuratezza bilanciata</a:t>
            </a:r>
          </a:p>
        </p:txBody>
      </p:sp>
      <p:sp>
        <p:nvSpPr>
          <p:cNvPr id="21" name="Stella a 7 punte 20">
            <a:extLst>
              <a:ext uri="{FF2B5EF4-FFF2-40B4-BE49-F238E27FC236}">
                <a16:creationId xmlns:a16="http://schemas.microsoft.com/office/drawing/2014/main" id="{A89D04DD-C9B1-4B78-A6C7-7A2CEDA00503}"/>
              </a:ext>
            </a:extLst>
          </p:cNvPr>
          <p:cNvSpPr/>
          <p:nvPr/>
        </p:nvSpPr>
        <p:spPr>
          <a:xfrm>
            <a:off x="3757366" y="5040943"/>
            <a:ext cx="162232" cy="136000"/>
          </a:xfrm>
          <a:prstGeom prst="star7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6EDF02F-366F-494D-84E0-441FEE6E3256}"/>
              </a:ext>
            </a:extLst>
          </p:cNvPr>
          <p:cNvSpPr txBox="1"/>
          <p:nvPr/>
        </p:nvSpPr>
        <p:spPr>
          <a:xfrm>
            <a:off x="4005685" y="4893499"/>
            <a:ext cx="5029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Sensitività</a:t>
            </a:r>
          </a:p>
        </p:txBody>
      </p:sp>
      <p:sp>
        <p:nvSpPr>
          <p:cNvPr id="23" name="Stella a 7 punte 22">
            <a:extLst>
              <a:ext uri="{FF2B5EF4-FFF2-40B4-BE49-F238E27FC236}">
                <a16:creationId xmlns:a16="http://schemas.microsoft.com/office/drawing/2014/main" id="{051C893F-A2D8-4C68-837D-EF35EF554D5C}"/>
              </a:ext>
            </a:extLst>
          </p:cNvPr>
          <p:cNvSpPr/>
          <p:nvPr/>
        </p:nvSpPr>
        <p:spPr>
          <a:xfrm>
            <a:off x="3757366" y="5446310"/>
            <a:ext cx="162232" cy="136000"/>
          </a:xfrm>
          <a:prstGeom prst="star7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0805BE8F-6693-4D2D-B52C-F49E36FE43DB}"/>
              </a:ext>
            </a:extLst>
          </p:cNvPr>
          <p:cNvSpPr txBox="1"/>
          <p:nvPr/>
        </p:nvSpPr>
        <p:spPr>
          <a:xfrm>
            <a:off x="4005685" y="5298866"/>
            <a:ext cx="5029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Specificità</a:t>
            </a:r>
          </a:p>
        </p:txBody>
      </p:sp>
      <p:sp>
        <p:nvSpPr>
          <p:cNvPr id="26" name="Stella a 7 punte 25">
            <a:extLst>
              <a:ext uri="{FF2B5EF4-FFF2-40B4-BE49-F238E27FC236}">
                <a16:creationId xmlns:a16="http://schemas.microsoft.com/office/drawing/2014/main" id="{21F8971A-6316-4A8A-B4F3-5A59FA5B2D48}"/>
              </a:ext>
            </a:extLst>
          </p:cNvPr>
          <p:cNvSpPr/>
          <p:nvPr/>
        </p:nvSpPr>
        <p:spPr>
          <a:xfrm>
            <a:off x="3757366" y="5877197"/>
            <a:ext cx="162232" cy="136000"/>
          </a:xfrm>
          <a:prstGeom prst="star7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B0AECD99-B271-4ABD-A22F-DF71978973E5}"/>
              </a:ext>
            </a:extLst>
          </p:cNvPr>
          <p:cNvSpPr txBox="1"/>
          <p:nvPr/>
        </p:nvSpPr>
        <p:spPr>
          <a:xfrm>
            <a:off x="4005685" y="5729753"/>
            <a:ext cx="5029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Area curva ROC</a:t>
            </a:r>
          </a:p>
        </p:txBody>
      </p:sp>
      <p:sp>
        <p:nvSpPr>
          <p:cNvPr id="29" name="Freccia angolare in su 28">
            <a:extLst>
              <a:ext uri="{FF2B5EF4-FFF2-40B4-BE49-F238E27FC236}">
                <a16:creationId xmlns:a16="http://schemas.microsoft.com/office/drawing/2014/main" id="{DEEA5226-1854-4754-846A-E66A74560C2D}"/>
              </a:ext>
            </a:extLst>
          </p:cNvPr>
          <p:cNvSpPr/>
          <p:nvPr/>
        </p:nvSpPr>
        <p:spPr>
          <a:xfrm rot="5400000">
            <a:off x="2348076" y="3514784"/>
            <a:ext cx="430888" cy="1399121"/>
          </a:xfrm>
          <a:prstGeom prst="bentUp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EAA16FC-D6F9-45F2-AA90-ED550D7738E8}"/>
              </a:ext>
            </a:extLst>
          </p:cNvPr>
          <p:cNvSpPr txBox="1"/>
          <p:nvPr/>
        </p:nvSpPr>
        <p:spPr>
          <a:xfrm>
            <a:off x="1373608" y="1345742"/>
            <a:ext cx="105506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Diversi algoritmi da diverse aree del Machine Learning</a:t>
            </a:r>
          </a:p>
        </p:txBody>
      </p:sp>
      <p:sp>
        <p:nvSpPr>
          <p:cNvPr id="27" name="Connettore 26">
            <a:extLst>
              <a:ext uri="{FF2B5EF4-FFF2-40B4-BE49-F238E27FC236}">
                <a16:creationId xmlns:a16="http://schemas.microsoft.com/office/drawing/2014/main" id="{D6E36631-8D9B-44E5-A933-043B561341D1}"/>
              </a:ext>
            </a:extLst>
          </p:cNvPr>
          <p:cNvSpPr/>
          <p:nvPr/>
        </p:nvSpPr>
        <p:spPr>
          <a:xfrm>
            <a:off x="1017576" y="1507746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356764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18B8BAC8-7585-4D04-8778-088EE85B5DA7}"/>
              </a:ext>
            </a:extLst>
          </p:cNvPr>
          <p:cNvSpPr txBox="1"/>
          <p:nvPr/>
        </p:nvSpPr>
        <p:spPr>
          <a:xfrm>
            <a:off x="761601" y="0"/>
            <a:ext cx="106687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latin typeface="+mj-lt"/>
              </a:rPr>
              <a:t>ADDESTRAMENTO ALGORITMI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0EC0C00-8BD1-4AB4-9D41-F57A695C31AF}"/>
              </a:ext>
            </a:extLst>
          </p:cNvPr>
          <p:cNvSpPr txBox="1"/>
          <p:nvPr/>
        </p:nvSpPr>
        <p:spPr>
          <a:xfrm>
            <a:off x="1179680" y="1019081"/>
            <a:ext cx="103533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Modello </a:t>
            </a:r>
            <a:r>
              <a:rPr lang="it-IT" sz="2200" dirty="0" err="1"/>
              <a:t>logit</a:t>
            </a:r>
            <a:endParaRPr lang="it-IT" sz="2200" dirty="0"/>
          </a:p>
        </p:txBody>
      </p:sp>
      <p:sp>
        <p:nvSpPr>
          <p:cNvPr id="10" name="Connettore 9">
            <a:extLst>
              <a:ext uri="{FF2B5EF4-FFF2-40B4-BE49-F238E27FC236}">
                <a16:creationId xmlns:a16="http://schemas.microsoft.com/office/drawing/2014/main" id="{D2E63BF0-9AC1-4B32-AB1F-541F46E992ED}"/>
              </a:ext>
            </a:extLst>
          </p:cNvPr>
          <p:cNvSpPr/>
          <p:nvPr/>
        </p:nvSpPr>
        <p:spPr>
          <a:xfrm>
            <a:off x="898359" y="1152947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AABFD06C-0040-4F7F-B562-2732A939B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336" y="2043451"/>
            <a:ext cx="7724980" cy="3582677"/>
          </a:xfrm>
          <a:prstGeom prst="rect">
            <a:avLst/>
          </a:prstGeom>
        </p:spPr>
      </p:pic>
      <p:sp>
        <p:nvSpPr>
          <p:cNvPr id="12" name="Freccia angolare in su 11">
            <a:extLst>
              <a:ext uri="{FF2B5EF4-FFF2-40B4-BE49-F238E27FC236}">
                <a16:creationId xmlns:a16="http://schemas.microsoft.com/office/drawing/2014/main" id="{432C1BCB-668D-4163-B851-EE1A1680F148}"/>
              </a:ext>
            </a:extLst>
          </p:cNvPr>
          <p:cNvSpPr/>
          <p:nvPr/>
        </p:nvSpPr>
        <p:spPr>
          <a:xfrm rot="5400000">
            <a:off x="1640063" y="1180669"/>
            <a:ext cx="384723" cy="984342"/>
          </a:xfrm>
          <a:prstGeom prst="bentUp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E18C6B7-619B-48AB-96EF-941D9007141B}"/>
              </a:ext>
            </a:extLst>
          </p:cNvPr>
          <p:cNvSpPr txBox="1"/>
          <p:nvPr/>
        </p:nvSpPr>
        <p:spPr>
          <a:xfrm>
            <a:off x="2324596" y="1512010"/>
            <a:ext cx="103533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L'output:</a:t>
            </a:r>
          </a:p>
        </p:txBody>
      </p:sp>
    </p:spTree>
    <p:extLst>
      <p:ext uri="{BB962C8B-B14F-4D97-AF65-F5344CB8AC3E}">
        <p14:creationId xmlns:p14="http://schemas.microsoft.com/office/powerpoint/2010/main" val="166006298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18B8BAC8-7585-4D04-8778-088EE85B5DA7}"/>
              </a:ext>
            </a:extLst>
          </p:cNvPr>
          <p:cNvSpPr txBox="1"/>
          <p:nvPr/>
        </p:nvSpPr>
        <p:spPr>
          <a:xfrm>
            <a:off x="761601" y="0"/>
            <a:ext cx="106687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latin typeface="+mj-lt"/>
              </a:rPr>
              <a:t>ADDESTRAMENTO ALGORITMI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0EC0C00-8BD1-4AB4-9D41-F57A695C31AF}"/>
              </a:ext>
            </a:extLst>
          </p:cNvPr>
          <p:cNvSpPr txBox="1"/>
          <p:nvPr/>
        </p:nvSpPr>
        <p:spPr>
          <a:xfrm>
            <a:off x="1179680" y="1019081"/>
            <a:ext cx="103533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Ensemble learning: Random </a:t>
            </a:r>
            <a:r>
              <a:rPr lang="it-IT" sz="2200" dirty="0" err="1"/>
              <a:t>forest</a:t>
            </a:r>
            <a:endParaRPr lang="it-IT" sz="2200" dirty="0"/>
          </a:p>
        </p:txBody>
      </p:sp>
      <p:sp>
        <p:nvSpPr>
          <p:cNvPr id="10" name="Connettore 9">
            <a:extLst>
              <a:ext uri="{FF2B5EF4-FFF2-40B4-BE49-F238E27FC236}">
                <a16:creationId xmlns:a16="http://schemas.microsoft.com/office/drawing/2014/main" id="{D2E63BF0-9AC1-4B32-AB1F-541F46E992ED}"/>
              </a:ext>
            </a:extLst>
          </p:cNvPr>
          <p:cNvSpPr/>
          <p:nvPr/>
        </p:nvSpPr>
        <p:spPr>
          <a:xfrm>
            <a:off x="898359" y="1152947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Freccia angolare in su 11">
            <a:extLst>
              <a:ext uri="{FF2B5EF4-FFF2-40B4-BE49-F238E27FC236}">
                <a16:creationId xmlns:a16="http://schemas.microsoft.com/office/drawing/2014/main" id="{432C1BCB-668D-4163-B851-EE1A1680F148}"/>
              </a:ext>
            </a:extLst>
          </p:cNvPr>
          <p:cNvSpPr/>
          <p:nvPr/>
        </p:nvSpPr>
        <p:spPr>
          <a:xfrm rot="5400000">
            <a:off x="1640063" y="1180669"/>
            <a:ext cx="384723" cy="984342"/>
          </a:xfrm>
          <a:prstGeom prst="bentUp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E18C6B7-619B-48AB-96EF-941D9007141B}"/>
              </a:ext>
            </a:extLst>
          </p:cNvPr>
          <p:cNvSpPr txBox="1"/>
          <p:nvPr/>
        </p:nvSpPr>
        <p:spPr>
          <a:xfrm>
            <a:off x="2353007" y="1553257"/>
            <a:ext cx="27847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La scelta degli </a:t>
            </a:r>
            <a:r>
              <a:rPr lang="it-IT" sz="2200" dirty="0" err="1"/>
              <a:t>iperparametri</a:t>
            </a:r>
            <a:r>
              <a:rPr lang="it-IT" sz="2200" dirty="0"/>
              <a:t>: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D839C83-5D08-497A-BF75-E32B8DAB2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991" y="2322698"/>
            <a:ext cx="7434661" cy="397566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3B0ED759-2EAB-41BD-9AF9-BAD44527D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292" y="2322698"/>
            <a:ext cx="7668058" cy="409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6234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18B8BAC8-7585-4D04-8778-088EE85B5DA7}"/>
              </a:ext>
            </a:extLst>
          </p:cNvPr>
          <p:cNvSpPr txBox="1"/>
          <p:nvPr/>
        </p:nvSpPr>
        <p:spPr>
          <a:xfrm>
            <a:off x="761601" y="0"/>
            <a:ext cx="106687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latin typeface="+mj-lt"/>
              </a:rPr>
              <a:t>ADDESTRAMENTO ALGORITMI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0EC0C00-8BD1-4AB4-9D41-F57A695C31AF}"/>
              </a:ext>
            </a:extLst>
          </p:cNvPr>
          <p:cNvSpPr txBox="1"/>
          <p:nvPr/>
        </p:nvSpPr>
        <p:spPr>
          <a:xfrm>
            <a:off x="1336331" y="1268224"/>
            <a:ext cx="103533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Albero di classificazione</a:t>
            </a:r>
          </a:p>
        </p:txBody>
      </p:sp>
      <p:sp>
        <p:nvSpPr>
          <p:cNvPr id="10" name="Connettore 9">
            <a:extLst>
              <a:ext uri="{FF2B5EF4-FFF2-40B4-BE49-F238E27FC236}">
                <a16:creationId xmlns:a16="http://schemas.microsoft.com/office/drawing/2014/main" id="{D2E63BF0-9AC1-4B32-AB1F-541F46E992ED}"/>
              </a:ext>
            </a:extLst>
          </p:cNvPr>
          <p:cNvSpPr/>
          <p:nvPr/>
        </p:nvSpPr>
        <p:spPr>
          <a:xfrm>
            <a:off x="1055010" y="1402090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4D8E051-F06B-47EB-851F-5CEA47E2DECA}"/>
              </a:ext>
            </a:extLst>
          </p:cNvPr>
          <p:cNvSpPr txBox="1"/>
          <p:nvPr/>
        </p:nvSpPr>
        <p:spPr>
          <a:xfrm>
            <a:off x="1336331" y="2998113"/>
            <a:ext cx="103533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Support </a:t>
            </a:r>
            <a:r>
              <a:rPr lang="it-IT" sz="2200" dirty="0" err="1"/>
              <a:t>vector</a:t>
            </a:r>
            <a:r>
              <a:rPr lang="it-IT" sz="2200" dirty="0"/>
              <a:t> machine lineare e support </a:t>
            </a:r>
            <a:r>
              <a:rPr lang="it-IT" sz="2200" dirty="0" err="1"/>
              <a:t>vector</a:t>
            </a:r>
            <a:r>
              <a:rPr lang="it-IT" sz="2200" dirty="0"/>
              <a:t> machine radiale</a:t>
            </a:r>
          </a:p>
        </p:txBody>
      </p:sp>
      <p:sp>
        <p:nvSpPr>
          <p:cNvPr id="11" name="Connettore 10">
            <a:extLst>
              <a:ext uri="{FF2B5EF4-FFF2-40B4-BE49-F238E27FC236}">
                <a16:creationId xmlns:a16="http://schemas.microsoft.com/office/drawing/2014/main" id="{29E15973-D7D2-477B-9FB1-74CF0E2C6BB3}"/>
              </a:ext>
            </a:extLst>
          </p:cNvPr>
          <p:cNvSpPr/>
          <p:nvPr/>
        </p:nvSpPr>
        <p:spPr>
          <a:xfrm>
            <a:off x="1055010" y="3131979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A88080A-B8B8-4836-A844-3EF2F442E22E}"/>
              </a:ext>
            </a:extLst>
          </p:cNvPr>
          <p:cNvSpPr txBox="1"/>
          <p:nvPr/>
        </p:nvSpPr>
        <p:spPr>
          <a:xfrm>
            <a:off x="1336331" y="4997422"/>
            <a:ext cx="103533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K-</a:t>
            </a:r>
            <a:r>
              <a:rPr lang="it-IT" sz="2200" dirty="0" err="1"/>
              <a:t>nearest</a:t>
            </a:r>
            <a:r>
              <a:rPr lang="it-IT" sz="2200" dirty="0"/>
              <a:t>-</a:t>
            </a:r>
            <a:r>
              <a:rPr lang="it-IT" sz="2200" dirty="0" err="1"/>
              <a:t>neighbot</a:t>
            </a:r>
            <a:r>
              <a:rPr lang="it-IT" sz="2200" dirty="0"/>
              <a:t> per la classificazione</a:t>
            </a:r>
          </a:p>
        </p:txBody>
      </p:sp>
      <p:sp>
        <p:nvSpPr>
          <p:cNvPr id="15" name="Connettore 14">
            <a:extLst>
              <a:ext uri="{FF2B5EF4-FFF2-40B4-BE49-F238E27FC236}">
                <a16:creationId xmlns:a16="http://schemas.microsoft.com/office/drawing/2014/main" id="{690BCC2B-8339-42C4-9136-7562B1B28FDC}"/>
              </a:ext>
            </a:extLst>
          </p:cNvPr>
          <p:cNvSpPr/>
          <p:nvPr/>
        </p:nvSpPr>
        <p:spPr>
          <a:xfrm>
            <a:off x="1055010" y="5131288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14875BE-0CC4-414D-B2BB-A540235B962D}"/>
              </a:ext>
            </a:extLst>
          </p:cNvPr>
          <p:cNvSpPr txBox="1"/>
          <p:nvPr/>
        </p:nvSpPr>
        <p:spPr>
          <a:xfrm>
            <a:off x="2477325" y="3528439"/>
            <a:ext cx="64347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Scelta dell'</a:t>
            </a:r>
            <a:r>
              <a:rPr lang="it-IT" sz="2200" dirty="0" err="1"/>
              <a:t>iperparametro</a:t>
            </a:r>
            <a:r>
              <a:rPr lang="it-IT" sz="2200" dirty="0"/>
              <a:t> C tramite griglia</a:t>
            </a:r>
          </a:p>
        </p:txBody>
      </p:sp>
      <p:sp>
        <p:nvSpPr>
          <p:cNvPr id="16" name="Freccia angolare in su 15">
            <a:extLst>
              <a:ext uri="{FF2B5EF4-FFF2-40B4-BE49-F238E27FC236}">
                <a16:creationId xmlns:a16="http://schemas.microsoft.com/office/drawing/2014/main" id="{5CC91291-AEB7-4386-AB8A-201A8AE326B3}"/>
              </a:ext>
            </a:extLst>
          </p:cNvPr>
          <p:cNvSpPr/>
          <p:nvPr/>
        </p:nvSpPr>
        <p:spPr>
          <a:xfrm rot="5400000">
            <a:off x="1792792" y="3152915"/>
            <a:ext cx="384723" cy="984342"/>
          </a:xfrm>
          <a:prstGeom prst="bentUp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8234258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18B8BAC8-7585-4D04-8778-088EE85B5DA7}"/>
              </a:ext>
            </a:extLst>
          </p:cNvPr>
          <p:cNvSpPr txBox="1"/>
          <p:nvPr/>
        </p:nvSpPr>
        <p:spPr>
          <a:xfrm>
            <a:off x="761601" y="0"/>
            <a:ext cx="106687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latin typeface="+mj-lt"/>
              </a:rPr>
              <a:t>RISULTATO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0EC0C00-8BD1-4AB4-9D41-F57A695C31AF}"/>
              </a:ext>
            </a:extLst>
          </p:cNvPr>
          <p:cNvSpPr txBox="1"/>
          <p:nvPr/>
        </p:nvSpPr>
        <p:spPr>
          <a:xfrm>
            <a:off x="1336331" y="1268224"/>
            <a:ext cx="103533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Gli indici di performance sono stati collazionati in una matrice</a:t>
            </a:r>
          </a:p>
        </p:txBody>
      </p:sp>
      <p:sp>
        <p:nvSpPr>
          <p:cNvPr id="10" name="Connettore 9">
            <a:extLst>
              <a:ext uri="{FF2B5EF4-FFF2-40B4-BE49-F238E27FC236}">
                <a16:creationId xmlns:a16="http://schemas.microsoft.com/office/drawing/2014/main" id="{D2E63BF0-9AC1-4B32-AB1F-541F46E992ED}"/>
              </a:ext>
            </a:extLst>
          </p:cNvPr>
          <p:cNvSpPr/>
          <p:nvPr/>
        </p:nvSpPr>
        <p:spPr>
          <a:xfrm>
            <a:off x="1055010" y="1402090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A7EDDB7B-781D-4C50-9D36-DFE4755AE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17" y="2080064"/>
            <a:ext cx="11191964" cy="2028199"/>
          </a:xfrm>
          <a:prstGeom prst="rect">
            <a:avLst/>
          </a:prstGeom>
        </p:spPr>
      </p:pic>
      <p:sp>
        <p:nvSpPr>
          <p:cNvPr id="13" name="Freccia angolare in su 12">
            <a:extLst>
              <a:ext uri="{FF2B5EF4-FFF2-40B4-BE49-F238E27FC236}">
                <a16:creationId xmlns:a16="http://schemas.microsoft.com/office/drawing/2014/main" id="{E7A00214-9EA3-47E3-A9A8-33ADFF44F9DC}"/>
              </a:ext>
            </a:extLst>
          </p:cNvPr>
          <p:cNvSpPr/>
          <p:nvPr/>
        </p:nvSpPr>
        <p:spPr>
          <a:xfrm rot="5400000">
            <a:off x="1905637" y="4085429"/>
            <a:ext cx="868113" cy="1675690"/>
          </a:xfrm>
          <a:prstGeom prst="bentUp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15BBDF3-884E-463D-8511-D9DB488B47D4}"/>
              </a:ext>
            </a:extLst>
          </p:cNvPr>
          <p:cNvSpPr txBox="1"/>
          <p:nvPr/>
        </p:nvSpPr>
        <p:spPr>
          <a:xfrm>
            <a:off x="3392625" y="4775756"/>
            <a:ext cx="49055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Random </a:t>
            </a:r>
            <a:r>
              <a:rPr lang="it-IT" sz="2200" dirty="0" err="1"/>
              <a:t>forest</a:t>
            </a:r>
            <a:r>
              <a:rPr lang="it-IT" sz="2200" dirty="0"/>
              <a:t> è l'algoritmo con accuratezza maggiore</a:t>
            </a:r>
          </a:p>
        </p:txBody>
      </p:sp>
    </p:spTree>
    <p:extLst>
      <p:ext uri="{BB962C8B-B14F-4D97-AF65-F5344CB8AC3E}">
        <p14:creationId xmlns:p14="http://schemas.microsoft.com/office/powerpoint/2010/main" val="13062678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18B8BAC8-7585-4D04-8778-088EE85B5DA7}"/>
              </a:ext>
            </a:extLst>
          </p:cNvPr>
          <p:cNvSpPr txBox="1"/>
          <p:nvPr/>
        </p:nvSpPr>
        <p:spPr>
          <a:xfrm>
            <a:off x="761601" y="0"/>
            <a:ext cx="106687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latin typeface="+mj-lt"/>
              </a:rPr>
              <a:t>RANKING DELLE FEATURE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0EC0C00-8BD1-4AB4-9D41-F57A695C31AF}"/>
              </a:ext>
            </a:extLst>
          </p:cNvPr>
          <p:cNvSpPr txBox="1"/>
          <p:nvPr/>
        </p:nvSpPr>
        <p:spPr>
          <a:xfrm>
            <a:off x="1345757" y="966124"/>
            <a:ext cx="103533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Per addestrare un algoritmo con meno </a:t>
            </a:r>
            <a:r>
              <a:rPr lang="it-IT" sz="2200" dirty="0" err="1"/>
              <a:t>covariate</a:t>
            </a:r>
            <a:endParaRPr lang="it-IT" sz="2200" dirty="0"/>
          </a:p>
        </p:txBody>
      </p:sp>
      <p:sp>
        <p:nvSpPr>
          <p:cNvPr id="10" name="Connettore 9">
            <a:extLst>
              <a:ext uri="{FF2B5EF4-FFF2-40B4-BE49-F238E27FC236}">
                <a16:creationId xmlns:a16="http://schemas.microsoft.com/office/drawing/2014/main" id="{D2E63BF0-9AC1-4B32-AB1F-541F46E992ED}"/>
              </a:ext>
            </a:extLst>
          </p:cNvPr>
          <p:cNvSpPr/>
          <p:nvPr/>
        </p:nvSpPr>
        <p:spPr>
          <a:xfrm>
            <a:off x="1064436" y="1099990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Freccia angolare in su 12">
            <a:extLst>
              <a:ext uri="{FF2B5EF4-FFF2-40B4-BE49-F238E27FC236}">
                <a16:creationId xmlns:a16="http://schemas.microsoft.com/office/drawing/2014/main" id="{E7A00214-9EA3-47E3-A9A8-33ADFF44F9DC}"/>
              </a:ext>
            </a:extLst>
          </p:cNvPr>
          <p:cNvSpPr/>
          <p:nvPr/>
        </p:nvSpPr>
        <p:spPr>
          <a:xfrm rot="5400000">
            <a:off x="2227670" y="5365030"/>
            <a:ext cx="654467" cy="1448740"/>
          </a:xfrm>
          <a:prstGeom prst="bentUp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15BBDF3-884E-463D-8511-D9DB488B47D4}"/>
              </a:ext>
            </a:extLst>
          </p:cNvPr>
          <p:cNvSpPr txBox="1"/>
          <p:nvPr/>
        </p:nvSpPr>
        <p:spPr>
          <a:xfrm>
            <a:off x="3538345" y="5825486"/>
            <a:ext cx="596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"</a:t>
            </a:r>
            <a:r>
              <a:rPr lang="it-IT" sz="2200" dirty="0" err="1"/>
              <a:t>serum</a:t>
            </a:r>
            <a:r>
              <a:rPr lang="it-IT" sz="2200" dirty="0"/>
              <a:t> creatinine" e "</a:t>
            </a:r>
            <a:r>
              <a:rPr lang="it-IT" sz="2200" dirty="0" err="1"/>
              <a:t>ejection</a:t>
            </a:r>
            <a:r>
              <a:rPr lang="it-IT" sz="2200" dirty="0"/>
              <a:t> </a:t>
            </a:r>
            <a:r>
              <a:rPr lang="it-IT" sz="2200" dirty="0" err="1"/>
              <a:t>fraction</a:t>
            </a:r>
            <a:r>
              <a:rPr lang="it-IT" sz="2200" dirty="0"/>
              <a:t>" sono le più importanti</a:t>
            </a:r>
          </a:p>
        </p:txBody>
      </p:sp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AA148B7A-7527-48F3-9663-F8CD1FCB5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274" y="2098152"/>
            <a:ext cx="5082301" cy="3372608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85AF5BA-E6A3-4DD3-B3E4-4E201C6FFB9C}"/>
              </a:ext>
            </a:extLst>
          </p:cNvPr>
          <p:cNvSpPr txBox="1"/>
          <p:nvPr/>
        </p:nvSpPr>
        <p:spPr>
          <a:xfrm>
            <a:off x="1309783" y="1532138"/>
            <a:ext cx="103533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Costruita sulla base dell'information gain</a:t>
            </a:r>
          </a:p>
        </p:txBody>
      </p:sp>
      <p:sp>
        <p:nvSpPr>
          <p:cNvPr id="12" name="Connettore 11">
            <a:extLst>
              <a:ext uri="{FF2B5EF4-FFF2-40B4-BE49-F238E27FC236}">
                <a16:creationId xmlns:a16="http://schemas.microsoft.com/office/drawing/2014/main" id="{6C6572ED-AE49-4A64-9878-E471F09908D3}"/>
              </a:ext>
            </a:extLst>
          </p:cNvPr>
          <p:cNvSpPr/>
          <p:nvPr/>
        </p:nvSpPr>
        <p:spPr>
          <a:xfrm>
            <a:off x="1064436" y="1694140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487278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18B8BAC8-7585-4D04-8778-088EE85B5DA7}"/>
              </a:ext>
            </a:extLst>
          </p:cNvPr>
          <p:cNvSpPr txBox="1"/>
          <p:nvPr/>
        </p:nvSpPr>
        <p:spPr>
          <a:xfrm>
            <a:off x="761601" y="0"/>
            <a:ext cx="106687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latin typeface="+mj-lt"/>
              </a:rPr>
              <a:t>ALGORITMO DEFINITIVO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0EC0C00-8BD1-4AB4-9D41-F57A695C31AF}"/>
              </a:ext>
            </a:extLst>
          </p:cNvPr>
          <p:cNvSpPr txBox="1"/>
          <p:nvPr/>
        </p:nvSpPr>
        <p:spPr>
          <a:xfrm>
            <a:off x="1345757" y="966124"/>
            <a:ext cx="103533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Si addestra l'algoritmo che si è comportato meglio sul dataset completo: la random </a:t>
            </a:r>
            <a:r>
              <a:rPr lang="it-IT" sz="2200" dirty="0" err="1"/>
              <a:t>forest</a:t>
            </a:r>
            <a:endParaRPr lang="it-IT" sz="2200" dirty="0"/>
          </a:p>
        </p:txBody>
      </p:sp>
      <p:sp>
        <p:nvSpPr>
          <p:cNvPr id="10" name="Connettore 9">
            <a:extLst>
              <a:ext uri="{FF2B5EF4-FFF2-40B4-BE49-F238E27FC236}">
                <a16:creationId xmlns:a16="http://schemas.microsoft.com/office/drawing/2014/main" id="{D2E63BF0-9AC1-4B32-AB1F-541F46E992ED}"/>
              </a:ext>
            </a:extLst>
          </p:cNvPr>
          <p:cNvSpPr/>
          <p:nvPr/>
        </p:nvSpPr>
        <p:spPr>
          <a:xfrm>
            <a:off x="1064436" y="1118844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Freccia angolare in su 12">
            <a:extLst>
              <a:ext uri="{FF2B5EF4-FFF2-40B4-BE49-F238E27FC236}">
                <a16:creationId xmlns:a16="http://schemas.microsoft.com/office/drawing/2014/main" id="{E7A00214-9EA3-47E3-A9A8-33ADFF44F9DC}"/>
              </a:ext>
            </a:extLst>
          </p:cNvPr>
          <p:cNvSpPr/>
          <p:nvPr/>
        </p:nvSpPr>
        <p:spPr>
          <a:xfrm rot="5400000">
            <a:off x="1952189" y="5458964"/>
            <a:ext cx="565889" cy="1298936"/>
          </a:xfrm>
          <a:prstGeom prst="bentUpArrow">
            <a:avLst/>
          </a:prstGeom>
          <a:solidFill>
            <a:srgbClr val="F9C823"/>
          </a:solidFill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15BBDF3-884E-463D-8511-D9DB488B47D4}"/>
              </a:ext>
            </a:extLst>
          </p:cNvPr>
          <p:cNvSpPr txBox="1"/>
          <p:nvPr/>
        </p:nvSpPr>
        <p:spPr>
          <a:xfrm>
            <a:off x="3034406" y="6057207"/>
            <a:ext cx="59681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L'accuratezza è 0.75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85AF5BA-E6A3-4DD3-B3E4-4E201C6FFB9C}"/>
              </a:ext>
            </a:extLst>
          </p:cNvPr>
          <p:cNvSpPr txBox="1"/>
          <p:nvPr/>
        </p:nvSpPr>
        <p:spPr>
          <a:xfrm>
            <a:off x="1309783" y="1735565"/>
            <a:ext cx="103533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Validazione con </a:t>
            </a:r>
            <a:r>
              <a:rPr lang="it-IT" sz="2200" dirty="0" err="1"/>
              <a:t>leave</a:t>
            </a:r>
            <a:r>
              <a:rPr lang="it-IT" sz="2200" dirty="0"/>
              <a:t> one out cross </a:t>
            </a:r>
            <a:r>
              <a:rPr lang="it-IT" sz="2200" dirty="0" err="1"/>
              <a:t>validation</a:t>
            </a:r>
            <a:endParaRPr lang="it-IT" sz="2200" dirty="0"/>
          </a:p>
        </p:txBody>
      </p:sp>
      <p:sp>
        <p:nvSpPr>
          <p:cNvPr id="12" name="Connettore 11">
            <a:extLst>
              <a:ext uri="{FF2B5EF4-FFF2-40B4-BE49-F238E27FC236}">
                <a16:creationId xmlns:a16="http://schemas.microsoft.com/office/drawing/2014/main" id="{6C6572ED-AE49-4A64-9878-E471F09908D3}"/>
              </a:ext>
            </a:extLst>
          </p:cNvPr>
          <p:cNvSpPr/>
          <p:nvPr/>
        </p:nvSpPr>
        <p:spPr>
          <a:xfrm>
            <a:off x="1064436" y="1897567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tavolo&#10;&#10;Descrizione generata automaticamente">
            <a:extLst>
              <a:ext uri="{FF2B5EF4-FFF2-40B4-BE49-F238E27FC236}">
                <a16:creationId xmlns:a16="http://schemas.microsoft.com/office/drawing/2014/main" id="{6D9FAE75-2325-4E4A-8297-67D35D40E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822" y="2228225"/>
            <a:ext cx="6544776" cy="366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4782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D83E18AD-3E73-4498-A09E-67D8CC63EE75}"/>
              </a:ext>
            </a:extLst>
          </p:cNvPr>
          <p:cNvSpPr txBox="1"/>
          <p:nvPr/>
        </p:nvSpPr>
        <p:spPr>
          <a:xfrm>
            <a:off x="2685336" y="1789"/>
            <a:ext cx="68213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latin typeface="+mj-lt"/>
              </a:rPr>
              <a:t>CONCLUSIONI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B24E8FBD-7C07-45F1-90DF-A23728C3E3A4}"/>
              </a:ext>
            </a:extLst>
          </p:cNvPr>
          <p:cNvCxnSpPr>
            <a:cxnSpLocks/>
          </p:cNvCxnSpPr>
          <p:nvPr/>
        </p:nvCxnSpPr>
        <p:spPr>
          <a:xfrm flipV="1">
            <a:off x="3205665" y="4875904"/>
            <a:ext cx="221226" cy="147483"/>
          </a:xfrm>
          <a:prstGeom prst="line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98E29D42-C9A1-48BD-BD41-A5C15A091502}"/>
              </a:ext>
            </a:extLst>
          </p:cNvPr>
          <p:cNvCxnSpPr>
            <a:cxnSpLocks/>
          </p:cNvCxnSpPr>
          <p:nvPr/>
        </p:nvCxnSpPr>
        <p:spPr>
          <a:xfrm>
            <a:off x="3426891" y="4875904"/>
            <a:ext cx="191729" cy="147482"/>
          </a:xfrm>
          <a:prstGeom prst="line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5389E76E-4615-4CE2-8BD1-57C383054E69}"/>
              </a:ext>
            </a:extLst>
          </p:cNvPr>
          <p:cNvCxnSpPr>
            <a:cxnSpLocks/>
          </p:cNvCxnSpPr>
          <p:nvPr/>
        </p:nvCxnSpPr>
        <p:spPr>
          <a:xfrm flipV="1">
            <a:off x="3603872" y="4875903"/>
            <a:ext cx="221226" cy="147483"/>
          </a:xfrm>
          <a:prstGeom prst="line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A8444732-8F2C-4E39-8AA4-490AB0F5C65D}"/>
              </a:ext>
            </a:extLst>
          </p:cNvPr>
          <p:cNvCxnSpPr>
            <a:cxnSpLocks/>
          </p:cNvCxnSpPr>
          <p:nvPr/>
        </p:nvCxnSpPr>
        <p:spPr>
          <a:xfrm>
            <a:off x="3825098" y="4875903"/>
            <a:ext cx="191729" cy="147482"/>
          </a:xfrm>
          <a:prstGeom prst="line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3843A5F8-F99C-4211-BFC4-BA099BE89445}"/>
              </a:ext>
            </a:extLst>
          </p:cNvPr>
          <p:cNvCxnSpPr>
            <a:cxnSpLocks/>
          </p:cNvCxnSpPr>
          <p:nvPr/>
        </p:nvCxnSpPr>
        <p:spPr>
          <a:xfrm flipV="1">
            <a:off x="4016828" y="4949644"/>
            <a:ext cx="176980" cy="73743"/>
          </a:xfrm>
          <a:prstGeom prst="line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BA66433B-BF30-445E-823D-CD73663EA479}"/>
              </a:ext>
            </a:extLst>
          </p:cNvPr>
          <p:cNvCxnSpPr>
            <a:cxnSpLocks/>
          </p:cNvCxnSpPr>
          <p:nvPr/>
        </p:nvCxnSpPr>
        <p:spPr>
          <a:xfrm>
            <a:off x="4193808" y="4949643"/>
            <a:ext cx="3822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nettore 18">
            <a:extLst>
              <a:ext uri="{FF2B5EF4-FFF2-40B4-BE49-F238E27FC236}">
                <a16:creationId xmlns:a16="http://schemas.microsoft.com/office/drawing/2014/main" id="{A9FDC2E5-8CA6-4A03-94A7-BBC008582358}"/>
              </a:ext>
            </a:extLst>
          </p:cNvPr>
          <p:cNvSpPr/>
          <p:nvPr/>
        </p:nvSpPr>
        <p:spPr>
          <a:xfrm>
            <a:off x="850963" y="1354900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D8AAE0C-4F59-4674-8940-D545EA496576}"/>
              </a:ext>
            </a:extLst>
          </p:cNvPr>
          <p:cNvSpPr txBox="1"/>
          <p:nvPr/>
        </p:nvSpPr>
        <p:spPr>
          <a:xfrm>
            <a:off x="1120777" y="1197125"/>
            <a:ext cx="37609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Interpretazione dei risultati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5D9418C-3B19-4417-872C-E07BAC1BB624}"/>
              </a:ext>
            </a:extLst>
          </p:cNvPr>
          <p:cNvSpPr txBox="1"/>
          <p:nvPr/>
        </p:nvSpPr>
        <p:spPr>
          <a:xfrm>
            <a:off x="992765" y="4771071"/>
            <a:ext cx="23456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Limiti e criticità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ADFFD254-54DF-473D-AB42-28ECE0791CA6}"/>
              </a:ext>
            </a:extLst>
          </p:cNvPr>
          <p:cNvSpPr txBox="1"/>
          <p:nvPr/>
        </p:nvSpPr>
        <p:spPr>
          <a:xfrm>
            <a:off x="4576018" y="4768597"/>
            <a:ext cx="52585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Bassa rappresentatività del dataset e soggettività dei pazienti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FBB4D082-D91A-46AF-9B51-16BBECE85B75}"/>
              </a:ext>
            </a:extLst>
          </p:cNvPr>
          <p:cNvSpPr txBox="1"/>
          <p:nvPr/>
        </p:nvSpPr>
        <p:spPr>
          <a:xfrm>
            <a:off x="6201517" y="3044279"/>
            <a:ext cx="48655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Aggiungere esplicative mancanti nel modello e raccogliere dati su altre aree geografiche</a:t>
            </a:r>
          </a:p>
        </p:txBody>
      </p:sp>
      <p:sp>
        <p:nvSpPr>
          <p:cNvPr id="36" name="Connettore 35">
            <a:extLst>
              <a:ext uri="{FF2B5EF4-FFF2-40B4-BE49-F238E27FC236}">
                <a16:creationId xmlns:a16="http://schemas.microsoft.com/office/drawing/2014/main" id="{E0451DA9-8C20-4C3C-AEAC-FA7466C1C63A}"/>
              </a:ext>
            </a:extLst>
          </p:cNvPr>
          <p:cNvSpPr/>
          <p:nvPr/>
        </p:nvSpPr>
        <p:spPr>
          <a:xfrm>
            <a:off x="787626" y="3183198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8579B6F4-6F56-4E18-A189-D1DF8AC3EAB0}"/>
              </a:ext>
            </a:extLst>
          </p:cNvPr>
          <p:cNvSpPr txBox="1"/>
          <p:nvPr/>
        </p:nvSpPr>
        <p:spPr>
          <a:xfrm>
            <a:off x="1042692" y="3044279"/>
            <a:ext cx="40100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Proposte per il miglioramento</a:t>
            </a: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90E9D283-EBEA-4639-AA82-B88D6EF85361}"/>
              </a:ext>
            </a:extLst>
          </p:cNvPr>
          <p:cNvCxnSpPr>
            <a:cxnSpLocks/>
          </p:cNvCxnSpPr>
          <p:nvPr/>
        </p:nvCxnSpPr>
        <p:spPr>
          <a:xfrm flipV="1">
            <a:off x="4881762" y="1433477"/>
            <a:ext cx="121230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790902C9-A98E-42D2-B2A9-65BD6782BEC6}"/>
              </a:ext>
            </a:extLst>
          </p:cNvPr>
          <p:cNvSpPr txBox="1"/>
          <p:nvPr/>
        </p:nvSpPr>
        <p:spPr>
          <a:xfrm>
            <a:off x="6201517" y="1201392"/>
            <a:ext cx="45167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La sopravvivenza dei pazienti può essere prevista esclusivamente dalla creatinina sierica e dalla frazione di eiezione</a:t>
            </a:r>
          </a:p>
        </p:txBody>
      </p: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4CE96F14-5572-4118-AE75-8E0C7083DDAF}"/>
              </a:ext>
            </a:extLst>
          </p:cNvPr>
          <p:cNvCxnSpPr>
            <a:cxnSpLocks/>
          </p:cNvCxnSpPr>
          <p:nvPr/>
        </p:nvCxnSpPr>
        <p:spPr>
          <a:xfrm>
            <a:off x="5049014" y="3270521"/>
            <a:ext cx="10450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onnettore 37">
            <a:extLst>
              <a:ext uri="{FF2B5EF4-FFF2-40B4-BE49-F238E27FC236}">
                <a16:creationId xmlns:a16="http://schemas.microsoft.com/office/drawing/2014/main" id="{5C7B3671-5FCA-4771-A984-CF2B6BE26174}"/>
              </a:ext>
            </a:extLst>
          </p:cNvPr>
          <p:cNvSpPr/>
          <p:nvPr/>
        </p:nvSpPr>
        <p:spPr>
          <a:xfrm>
            <a:off x="787625" y="4930609"/>
            <a:ext cx="119217" cy="106881"/>
          </a:xfrm>
          <a:prstGeom prst="flowChartConnector">
            <a:avLst/>
          </a:prstGeom>
          <a:ln>
            <a:solidFill>
              <a:srgbClr val="F9C8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803075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D83E18AD-3E73-4498-A09E-67D8CC63EE75}"/>
              </a:ext>
            </a:extLst>
          </p:cNvPr>
          <p:cNvSpPr txBox="1"/>
          <p:nvPr/>
        </p:nvSpPr>
        <p:spPr>
          <a:xfrm>
            <a:off x="2589429" y="2459504"/>
            <a:ext cx="70131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000" b="1" dirty="0">
                <a:latin typeface="+mj-lt"/>
              </a:rPr>
              <a:t>GRAZIE DELL'ATTENZIONE</a:t>
            </a:r>
          </a:p>
        </p:txBody>
      </p:sp>
    </p:spTree>
    <p:extLst>
      <p:ext uri="{BB962C8B-B14F-4D97-AF65-F5344CB8AC3E}">
        <p14:creationId xmlns:p14="http://schemas.microsoft.com/office/powerpoint/2010/main" val="422151220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faccettatura">
  <a:themeElements>
    <a:clrScheme name="Personalizzato 1">
      <a:dk1>
        <a:srgbClr val="000000"/>
      </a:dk1>
      <a:lt1>
        <a:sysClr val="window" lastClr="FFFFFF"/>
      </a:lt1>
      <a:dk2>
        <a:srgbClr val="000000"/>
      </a:dk2>
      <a:lt2>
        <a:srgbClr val="E5DEDB"/>
      </a:lt2>
      <a:accent1>
        <a:srgbClr val="FFCA08"/>
      </a:accent1>
      <a:accent2>
        <a:srgbClr val="FFFF66"/>
      </a:accent2>
      <a:accent3>
        <a:srgbClr val="E64823"/>
      </a:accent3>
      <a:accent4>
        <a:srgbClr val="EC7016"/>
      </a:accent4>
      <a:accent5>
        <a:srgbClr val="E64823"/>
      </a:accent5>
      <a:accent6>
        <a:srgbClr val="FFFF99"/>
      </a:accent6>
      <a:hlink>
        <a:srgbClr val="2998E3"/>
      </a:hlink>
      <a:folHlink>
        <a:srgbClr val="7F723D"/>
      </a:folHlink>
    </a:clrScheme>
    <a:fontScheme name="Personalizzato 2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Vetro smerigliat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TM02892315[[fn=Filo]]</Template>
  <TotalTime>6608</TotalTime>
  <Words>503</Words>
  <Application>Microsoft Office PowerPoint</Application>
  <PresentationFormat>Widescreen</PresentationFormat>
  <Paragraphs>90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16</vt:i4>
      </vt:variant>
    </vt:vector>
  </HeadingPairs>
  <TitlesOfParts>
    <vt:vector size="24" baseType="lpstr">
      <vt:lpstr>Malgun Gothic</vt:lpstr>
      <vt:lpstr>Arial</vt:lpstr>
      <vt:lpstr>Calibri</vt:lpstr>
      <vt:lpstr>Calibri Light</vt:lpstr>
      <vt:lpstr>Wingdings 2</vt:lpstr>
      <vt:lpstr>Wingdings 3</vt:lpstr>
      <vt:lpstr>HDOfficeLightV0</vt:lpstr>
      <vt:lpstr>Sfaccettatura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Copertina della tesi</dc:title>
  <dc:creator>giulia toffolo</dc:creator>
  <cp:lastModifiedBy>Luciana</cp:lastModifiedBy>
  <cp:revision>235</cp:revision>
  <dcterms:created xsi:type="dcterms:W3CDTF">2016-11-01T20:45:39Z</dcterms:created>
  <dcterms:modified xsi:type="dcterms:W3CDTF">2021-07-12T20:18:22Z</dcterms:modified>
</cp:coreProperties>
</file>